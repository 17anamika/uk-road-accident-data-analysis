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8" r:id="rId3"/>
    <p:sldId id="279"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80" r:id="rId19"/>
    <p:sldId id="271" r:id="rId20"/>
    <p:sldId id="272" r:id="rId21"/>
    <p:sldId id="273" r:id="rId22"/>
    <p:sldId id="274" r:id="rId23"/>
    <p:sldId id="281" r:id="rId24"/>
    <p:sldId id="275" r:id="rId25"/>
    <p:sldId id="276" r:id="rId26"/>
    <p:sldId id="27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1380F9-AAF2-42FB-84AE-967A821D6795}" v="5582" dt="2026-01-31T11:26:12.7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5642" y="219449"/>
            <a:ext cx="10818158" cy="1235915"/>
          </a:xfrm>
        </p:spPr>
        <p:txBody>
          <a:bodyPr>
            <a:normAutofit/>
          </a:bodyPr>
          <a:lstStyle/>
          <a:p>
            <a:pPr algn="ctr"/>
            <a:r>
              <a:rPr lang="en-US" sz="3600" b="1" i="1" dirty="0"/>
              <a:t>UK Road Accident Analysis &amp; Risk Assessment</a:t>
            </a:r>
            <a:endParaRPr lang="en-US"/>
          </a:p>
        </p:txBody>
      </p:sp>
      <p:sp>
        <p:nvSpPr>
          <p:cNvPr id="3" name="Subtitle 2"/>
          <p:cNvSpPr>
            <a:spLocks noGrp="1"/>
          </p:cNvSpPr>
          <p:nvPr>
            <p:ph idx="1"/>
          </p:nvPr>
        </p:nvSpPr>
        <p:spPr>
          <a:xfrm>
            <a:off x="535641" y="1444627"/>
            <a:ext cx="11042276" cy="5191777"/>
          </a:xfrm>
        </p:spPr>
        <p:txBody>
          <a:bodyPr vert="horz" lIns="91440" tIns="45720" rIns="91440" bIns="45720" rtlCol="0" anchor="t">
            <a:noAutofit/>
          </a:bodyPr>
          <a:lstStyle/>
          <a:p>
            <a:pPr marL="0" indent="0">
              <a:buNone/>
            </a:pPr>
            <a:r>
              <a:rPr lang="en-US" sz="1800" b="1" dirty="0">
                <a:ea typeface="+mn-lt"/>
                <a:cs typeface="+mn-lt"/>
              </a:rPr>
              <a:t>Project Overview:-</a:t>
            </a:r>
            <a:endParaRPr lang="en-US" sz="1800" b="1"/>
          </a:p>
          <a:p>
            <a:pPr marL="0" indent="0">
              <a:buNone/>
            </a:pPr>
            <a:r>
              <a:rPr lang="en-US" sz="1800" dirty="0">
                <a:ea typeface="+mn-lt"/>
                <a:cs typeface="+mn-lt"/>
              </a:rPr>
              <a:t>This project analyzes UK road accident data to identify patterns, high-risk conditions, and contributing factors affecting accident frequency and severity. The analysis combines Python, SQL, and Power BI to deliver data-driven insights for road safety and decision-making.</a:t>
            </a:r>
            <a:endParaRPr lang="en-US" sz="1800"/>
          </a:p>
          <a:p>
            <a:pPr marL="0" indent="0">
              <a:buNone/>
            </a:pPr>
            <a:endParaRPr lang="en-US" sz="1800" dirty="0">
              <a:ea typeface="+mn-lt"/>
              <a:cs typeface="+mn-lt"/>
            </a:endParaRPr>
          </a:p>
          <a:p>
            <a:pPr marL="0" indent="0">
              <a:buNone/>
            </a:pPr>
            <a:r>
              <a:rPr lang="en-US" sz="1800" b="1" dirty="0">
                <a:ea typeface="+mn-lt"/>
                <a:cs typeface="+mn-lt"/>
              </a:rPr>
              <a:t>Objectives:-</a:t>
            </a:r>
            <a:endParaRPr lang="en-US" sz="1800" b="1"/>
          </a:p>
          <a:p>
            <a:r>
              <a:rPr lang="en-US" sz="1800" dirty="0">
                <a:ea typeface="+mn-lt"/>
                <a:cs typeface="+mn-lt"/>
              </a:rPr>
              <a:t>Identify accident trends over time (date, month, quarter).</a:t>
            </a:r>
            <a:endParaRPr lang="en-US" sz="1800"/>
          </a:p>
          <a:p>
            <a:r>
              <a:rPr lang="en-US" sz="1800" dirty="0">
                <a:ea typeface="+mn-lt"/>
                <a:cs typeface="+mn-lt"/>
              </a:rPr>
              <a:t>Analyze risk severity under different conditions (speed, weather, light, road surface).</a:t>
            </a:r>
            <a:endParaRPr lang="en-US" sz="1800"/>
          </a:p>
          <a:p>
            <a:r>
              <a:rPr lang="en-US" sz="1800" dirty="0">
                <a:ea typeface="+mn-lt"/>
                <a:cs typeface="+mn-lt"/>
              </a:rPr>
              <a:t>Detect high-risk locations, road types, and time periods.</a:t>
            </a:r>
            <a:endParaRPr lang="en-US" sz="1800"/>
          </a:p>
          <a:p>
            <a:r>
              <a:rPr lang="en-US" sz="1800" dirty="0">
                <a:ea typeface="+mn-lt"/>
                <a:cs typeface="+mn-lt"/>
              </a:rPr>
              <a:t>Provide actionable insights through interactive dashboards.</a:t>
            </a:r>
            <a:endParaRPr lang="en-US" sz="1800" dirty="0"/>
          </a:p>
          <a:p>
            <a:endParaRPr lang="en-US" sz="1800" dirty="0">
              <a:ea typeface="+mn-lt"/>
              <a:cs typeface="+mn-lt"/>
            </a:endParaRPr>
          </a:p>
          <a:p>
            <a:pPr marL="0" indent="0">
              <a:buNone/>
            </a:pPr>
            <a:r>
              <a:rPr lang="en-US" sz="1800" b="1" dirty="0">
                <a:ea typeface="+mn-lt"/>
                <a:cs typeface="+mn-lt"/>
              </a:rPr>
              <a:t>Tools &amp; Technologies:-</a:t>
            </a:r>
            <a:endParaRPr lang="en-US" sz="1800" b="1"/>
          </a:p>
          <a:p>
            <a:r>
              <a:rPr lang="en-US" sz="1800" dirty="0">
                <a:ea typeface="+mn-lt"/>
                <a:cs typeface="+mn-lt"/>
              </a:rPr>
              <a:t>Python: Data cleaning, transformation, EDA, feature engineering, statistical analysis.</a:t>
            </a:r>
            <a:endParaRPr lang="en-US" sz="1800"/>
          </a:p>
          <a:p>
            <a:r>
              <a:rPr lang="en-US" sz="1800" dirty="0">
                <a:ea typeface="+mn-lt"/>
                <a:cs typeface="+mn-lt"/>
              </a:rPr>
              <a:t>SQL: Aggregations, CTEs, group-by, ordering for deeper analysis.</a:t>
            </a:r>
            <a:endParaRPr lang="en-US" sz="1800"/>
          </a:p>
          <a:p>
            <a:r>
              <a:rPr lang="en-US" sz="1800" dirty="0">
                <a:ea typeface="+mn-lt"/>
                <a:cs typeface="+mn-lt"/>
              </a:rPr>
              <a:t>Power BI: Power Query, DAX (MTD, QTD), date/time tables, filters, interactive visuals.</a:t>
            </a:r>
            <a:endParaRPr lang="en-US" sz="180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78630-2B13-608D-2D51-7F1DBBA8D76C}"/>
              </a:ext>
            </a:extLst>
          </p:cNvPr>
          <p:cNvSpPr>
            <a:spLocks noGrp="1"/>
          </p:cNvSpPr>
          <p:nvPr>
            <p:ph type="title"/>
          </p:nvPr>
        </p:nvSpPr>
        <p:spPr>
          <a:xfrm>
            <a:off x="838200" y="163420"/>
            <a:ext cx="10515600" cy="1191091"/>
          </a:xfrm>
        </p:spPr>
        <p:txBody>
          <a:bodyPr>
            <a:normAutofit/>
          </a:bodyPr>
          <a:lstStyle/>
          <a:p>
            <a:pPr algn="ctr"/>
            <a:r>
              <a:rPr lang="en-US" sz="3600" b="1" i="1" dirty="0"/>
              <a:t>Data Source and Analytical Approach</a:t>
            </a:r>
            <a:endParaRPr lang="en-US"/>
          </a:p>
        </p:txBody>
      </p:sp>
      <p:sp>
        <p:nvSpPr>
          <p:cNvPr id="3" name="Content Placeholder 2">
            <a:extLst>
              <a:ext uri="{FF2B5EF4-FFF2-40B4-BE49-F238E27FC236}">
                <a16:creationId xmlns:a16="http://schemas.microsoft.com/office/drawing/2014/main" id="{6D79ABC5-7F2D-DF1B-0CF1-C35E9945BABA}"/>
              </a:ext>
            </a:extLst>
          </p:cNvPr>
          <p:cNvSpPr>
            <a:spLocks noGrp="1"/>
          </p:cNvSpPr>
          <p:nvPr>
            <p:ph idx="1"/>
          </p:nvPr>
        </p:nvSpPr>
        <p:spPr>
          <a:xfrm>
            <a:off x="838200" y="1444625"/>
            <a:ext cx="10515600" cy="5415895"/>
          </a:xfrm>
        </p:spPr>
        <p:txBody>
          <a:bodyPr vert="horz" lIns="91440" tIns="45720" rIns="91440" bIns="45720" rtlCol="0" anchor="t">
            <a:normAutofit/>
          </a:bodyPr>
          <a:lstStyle/>
          <a:p>
            <a:pPr marL="0" indent="0">
              <a:buNone/>
            </a:pPr>
            <a:r>
              <a:rPr lang="en-US" sz="1800" b="1" dirty="0">
                <a:ea typeface="+mn-lt"/>
                <a:cs typeface="+mn-lt"/>
              </a:rPr>
              <a:t>Dataset Description:-</a:t>
            </a:r>
            <a:endParaRPr lang="en-US" sz="1800" b="1" dirty="0"/>
          </a:p>
          <a:p>
            <a:r>
              <a:rPr lang="en-US" sz="1800" dirty="0">
                <a:ea typeface="+mn-lt"/>
                <a:cs typeface="+mn-lt"/>
              </a:rPr>
              <a:t>UK road accident dataset containing:</a:t>
            </a:r>
            <a:endParaRPr lang="en-US" dirty="0"/>
          </a:p>
          <a:p>
            <a:r>
              <a:rPr lang="en-US" sz="1800" dirty="0">
                <a:ea typeface="+mn-lt"/>
                <a:cs typeface="+mn-lt"/>
              </a:rPr>
              <a:t>Accident date &amp; time.</a:t>
            </a:r>
            <a:endParaRPr lang="en-US" dirty="0"/>
          </a:p>
          <a:p>
            <a:r>
              <a:rPr lang="en-US" sz="1800" dirty="0">
                <a:ea typeface="+mn-lt"/>
                <a:cs typeface="+mn-lt"/>
              </a:rPr>
              <a:t>Location &amp; police force.</a:t>
            </a:r>
            <a:endParaRPr lang="en-US" dirty="0"/>
          </a:p>
          <a:p>
            <a:r>
              <a:rPr lang="en-US" sz="1800" dirty="0">
                <a:ea typeface="+mn-lt"/>
                <a:cs typeface="+mn-lt"/>
              </a:rPr>
              <a:t>Road type, junction details, pedestrian crossings.</a:t>
            </a:r>
            <a:endParaRPr lang="en-US" dirty="0"/>
          </a:p>
          <a:p>
            <a:r>
              <a:rPr lang="en-US" sz="1800" dirty="0">
                <a:ea typeface="+mn-lt"/>
                <a:cs typeface="+mn-lt"/>
              </a:rPr>
              <a:t>Weather, light, speed limits.</a:t>
            </a:r>
            <a:endParaRPr lang="en-US" dirty="0"/>
          </a:p>
          <a:p>
            <a:r>
              <a:rPr lang="en-US" sz="1800" dirty="0">
                <a:ea typeface="+mn-lt"/>
                <a:cs typeface="+mn-lt"/>
              </a:rPr>
              <a:t>Accident severity, casualties, and vehicles involved.</a:t>
            </a:r>
            <a:endParaRPr lang="en-US" dirty="0"/>
          </a:p>
          <a:p>
            <a:pPr marL="0" indent="0">
              <a:buNone/>
            </a:pPr>
            <a:r>
              <a:rPr lang="en-US" sz="1800" b="1" dirty="0">
                <a:ea typeface="+mn-lt"/>
                <a:cs typeface="+mn-lt"/>
              </a:rPr>
              <a:t>Data Preparation &amp; Modeling:-</a:t>
            </a:r>
            <a:endParaRPr lang="en-US" b="1" dirty="0"/>
          </a:p>
          <a:p>
            <a:r>
              <a:rPr lang="en-US" sz="1800" dirty="0">
                <a:ea typeface="+mn-lt"/>
                <a:cs typeface="+mn-lt"/>
              </a:rPr>
              <a:t>Cleaned and standardized raw data using Python.</a:t>
            </a:r>
            <a:endParaRPr lang="en-US" dirty="0"/>
          </a:p>
          <a:p>
            <a:r>
              <a:rPr lang="en-US" sz="1800" dirty="0">
                <a:ea typeface="+mn-lt"/>
                <a:cs typeface="+mn-lt"/>
              </a:rPr>
              <a:t>Performed EDA , created derived features (time bands, seasons, risk rates) using feature engineering, statistically tested patterns.</a:t>
            </a:r>
            <a:endParaRPr lang="en-US" dirty="0"/>
          </a:p>
          <a:p>
            <a:r>
              <a:rPr lang="en-US" sz="1800" dirty="0">
                <a:ea typeface="+mn-lt"/>
                <a:cs typeface="+mn-lt"/>
              </a:rPr>
              <a:t>Built SQL queries for grouped and aggregated insights.</a:t>
            </a:r>
            <a:endParaRPr lang="en-US" dirty="0"/>
          </a:p>
          <a:p>
            <a:r>
              <a:rPr lang="en-US" sz="1800" dirty="0">
                <a:ea typeface="+mn-lt"/>
                <a:cs typeface="+mn-lt"/>
              </a:rPr>
              <a:t>Transformed data in Power Query &amp; designed date and time dimension tables in Power BI.</a:t>
            </a:r>
            <a:endParaRPr lang="en-US" dirty="0"/>
          </a:p>
          <a:p>
            <a:r>
              <a:rPr lang="en-US" sz="1800" dirty="0">
                <a:ea typeface="+mn-lt"/>
                <a:cs typeface="+mn-lt"/>
              </a:rPr>
              <a:t>Developed DAX measures including MTD, QTD, totals, and risk rates.</a:t>
            </a:r>
            <a:endParaRPr lang="en-US" dirty="0"/>
          </a:p>
        </p:txBody>
      </p:sp>
    </p:spTree>
    <p:extLst>
      <p:ext uri="{BB962C8B-B14F-4D97-AF65-F5344CB8AC3E}">
        <p14:creationId xmlns:p14="http://schemas.microsoft.com/office/powerpoint/2010/main" val="1956545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DD78B-699B-614B-2567-E0D2D0576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5BA497-AA55-2CA2-FAA7-7352816510DE}"/>
              </a:ext>
            </a:extLst>
          </p:cNvPr>
          <p:cNvSpPr>
            <a:spLocks noGrp="1"/>
          </p:cNvSpPr>
          <p:nvPr>
            <p:ph type="title"/>
          </p:nvPr>
        </p:nvSpPr>
        <p:spPr>
          <a:xfrm>
            <a:off x="838200" y="163420"/>
            <a:ext cx="10515600" cy="1191091"/>
          </a:xfrm>
        </p:spPr>
        <p:txBody>
          <a:bodyPr>
            <a:normAutofit/>
          </a:bodyPr>
          <a:lstStyle/>
          <a:p>
            <a:pPr algn="ctr"/>
            <a:r>
              <a:rPr lang="en-US" sz="3600" b="1" i="1" dirty="0"/>
              <a:t>Data Source and Analytical Approach</a:t>
            </a:r>
            <a:endParaRPr lang="en-US"/>
          </a:p>
        </p:txBody>
      </p:sp>
      <p:sp>
        <p:nvSpPr>
          <p:cNvPr id="3" name="Content Placeholder 2">
            <a:extLst>
              <a:ext uri="{FF2B5EF4-FFF2-40B4-BE49-F238E27FC236}">
                <a16:creationId xmlns:a16="http://schemas.microsoft.com/office/drawing/2014/main" id="{A6743889-15B6-8930-F478-11301F1B2A73}"/>
              </a:ext>
            </a:extLst>
          </p:cNvPr>
          <p:cNvSpPr>
            <a:spLocks noGrp="1"/>
          </p:cNvSpPr>
          <p:nvPr>
            <p:ph idx="1"/>
          </p:nvPr>
        </p:nvSpPr>
        <p:spPr>
          <a:xfrm>
            <a:off x="838200" y="1444625"/>
            <a:ext cx="10515600" cy="5415895"/>
          </a:xfrm>
        </p:spPr>
        <p:txBody>
          <a:bodyPr vert="horz" lIns="91440" tIns="45720" rIns="91440" bIns="45720" rtlCol="0" anchor="t">
            <a:normAutofit/>
          </a:bodyPr>
          <a:lstStyle/>
          <a:p>
            <a:pPr>
              <a:buNone/>
            </a:pPr>
            <a:r>
              <a:rPr lang="en-US" sz="1800" b="1" dirty="0">
                <a:ea typeface="+mn-lt"/>
                <a:cs typeface="+mn-lt"/>
              </a:rPr>
              <a:t>Dashboard Design Philosophy:-</a:t>
            </a:r>
            <a:endParaRPr lang="en-US" b="1" dirty="0"/>
          </a:p>
          <a:p>
            <a:r>
              <a:rPr lang="en-US" sz="1800" dirty="0">
                <a:ea typeface="+mn-lt"/>
                <a:cs typeface="+mn-lt"/>
              </a:rPr>
              <a:t>KPIs for quick summary metrics.</a:t>
            </a:r>
            <a:endParaRPr lang="en-US" dirty="0"/>
          </a:p>
          <a:p>
            <a:endParaRPr lang="en-US" sz="1800" dirty="0">
              <a:ea typeface="+mn-lt"/>
              <a:cs typeface="+mn-lt"/>
            </a:endParaRPr>
          </a:p>
          <a:p>
            <a:r>
              <a:rPr lang="en-US" sz="1800" dirty="0">
                <a:ea typeface="+mn-lt"/>
                <a:cs typeface="+mn-lt"/>
              </a:rPr>
              <a:t>Trends &amp; distributions for pattern detection.</a:t>
            </a:r>
            <a:endParaRPr lang="en-US" dirty="0"/>
          </a:p>
          <a:p>
            <a:endParaRPr lang="en-US" sz="1800" dirty="0">
              <a:ea typeface="+mn-lt"/>
              <a:cs typeface="+mn-lt"/>
            </a:endParaRPr>
          </a:p>
          <a:p>
            <a:r>
              <a:rPr lang="en-US" sz="1800" dirty="0">
                <a:ea typeface="+mn-lt"/>
                <a:cs typeface="+mn-lt"/>
              </a:rPr>
              <a:t>Filters &amp; slicers for interactive exploration.</a:t>
            </a:r>
            <a:endParaRPr lang="en-US" dirty="0"/>
          </a:p>
          <a:p>
            <a:endParaRPr lang="en-US" sz="1800" dirty="0">
              <a:ea typeface="+mn-lt"/>
              <a:cs typeface="+mn-lt"/>
            </a:endParaRPr>
          </a:p>
          <a:p>
            <a:r>
              <a:rPr lang="en-US" sz="1800" dirty="0">
                <a:ea typeface="+mn-lt"/>
                <a:cs typeface="+mn-lt"/>
              </a:rPr>
              <a:t>Focus on clarity, insights, and decision support.</a:t>
            </a:r>
            <a:endParaRPr lang="en-US" dirty="0"/>
          </a:p>
        </p:txBody>
      </p:sp>
    </p:spTree>
    <p:extLst>
      <p:ext uri="{BB962C8B-B14F-4D97-AF65-F5344CB8AC3E}">
        <p14:creationId xmlns:p14="http://schemas.microsoft.com/office/powerpoint/2010/main" val="3318594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83091-23DD-966F-42CD-48956BEA79A0}"/>
              </a:ext>
            </a:extLst>
          </p:cNvPr>
          <p:cNvSpPr>
            <a:spLocks noGrp="1"/>
          </p:cNvSpPr>
          <p:nvPr>
            <p:ph type="title"/>
          </p:nvPr>
        </p:nvSpPr>
        <p:spPr>
          <a:xfrm>
            <a:off x="838200" y="129802"/>
            <a:ext cx="10515600" cy="1370386"/>
          </a:xfrm>
        </p:spPr>
        <p:txBody>
          <a:bodyPr/>
          <a:lstStyle/>
          <a:p>
            <a:pPr algn="ctr"/>
            <a:r>
              <a:rPr lang="en-US" sz="3600" b="1" i="1" dirty="0"/>
              <a:t>Key Accident Summary Metrics</a:t>
            </a:r>
          </a:p>
        </p:txBody>
      </p:sp>
      <p:pic>
        <p:nvPicPr>
          <p:cNvPr id="4" name="Content Placeholder 3" descr="A screenshot of a graph&#10;&#10;AI-generated content may be incorrect.">
            <a:extLst>
              <a:ext uri="{FF2B5EF4-FFF2-40B4-BE49-F238E27FC236}">
                <a16:creationId xmlns:a16="http://schemas.microsoft.com/office/drawing/2014/main" id="{2A6DAA9D-C16C-C117-EFE5-C17D48B828BB}"/>
              </a:ext>
            </a:extLst>
          </p:cNvPr>
          <p:cNvPicPr>
            <a:picLocks noGrp="1" noChangeAspect="1"/>
          </p:cNvPicPr>
          <p:nvPr>
            <p:ph idx="1"/>
          </p:nvPr>
        </p:nvPicPr>
        <p:blipFill>
          <a:blip r:embed="rId2"/>
          <a:stretch>
            <a:fillRect/>
          </a:stretch>
        </p:blipFill>
        <p:spPr>
          <a:xfrm>
            <a:off x="840389" y="1691154"/>
            <a:ext cx="10511222" cy="4709926"/>
          </a:xfrm>
          <a:prstGeom prst="rect">
            <a:avLst/>
          </a:prstGeom>
        </p:spPr>
      </p:pic>
    </p:spTree>
    <p:extLst>
      <p:ext uri="{BB962C8B-B14F-4D97-AF65-F5344CB8AC3E}">
        <p14:creationId xmlns:p14="http://schemas.microsoft.com/office/powerpoint/2010/main" val="1741255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13474-1BF1-9180-04F3-70C0AB85F27C}"/>
              </a:ext>
            </a:extLst>
          </p:cNvPr>
          <p:cNvSpPr>
            <a:spLocks noGrp="1"/>
          </p:cNvSpPr>
          <p:nvPr>
            <p:ph type="title"/>
          </p:nvPr>
        </p:nvSpPr>
        <p:spPr/>
        <p:txBody>
          <a:bodyPr/>
          <a:lstStyle/>
          <a:p>
            <a:pPr algn="ctr"/>
            <a:r>
              <a:rPr lang="en-US" sz="3600" b="1" i="1" dirty="0"/>
              <a:t>Key Insights:-</a:t>
            </a:r>
            <a:endParaRPr lang="en-US"/>
          </a:p>
        </p:txBody>
      </p:sp>
      <p:sp>
        <p:nvSpPr>
          <p:cNvPr id="3" name="Content Placeholder 2">
            <a:extLst>
              <a:ext uri="{FF2B5EF4-FFF2-40B4-BE49-F238E27FC236}">
                <a16:creationId xmlns:a16="http://schemas.microsoft.com/office/drawing/2014/main" id="{5F54767E-A37E-B84D-B9F0-8AB79965E3B6}"/>
              </a:ext>
            </a:extLst>
          </p:cNvPr>
          <p:cNvSpPr>
            <a:spLocks noGrp="1"/>
          </p:cNvSpPr>
          <p:nvPr>
            <p:ph idx="1"/>
          </p:nvPr>
        </p:nvSpPr>
        <p:spPr/>
        <p:txBody>
          <a:bodyPr vert="horz" lIns="91440" tIns="45720" rIns="91440" bIns="45720" rtlCol="0" anchor="t">
            <a:normAutofit/>
          </a:bodyPr>
          <a:lstStyle/>
          <a:p>
            <a:pPr marL="0" indent="0">
              <a:buNone/>
            </a:pPr>
            <a:r>
              <a:rPr lang="en-US" sz="1800" dirty="0">
                <a:latin typeface="Arial"/>
                <a:cs typeface="Arial"/>
              </a:rPr>
              <a:t>•</a:t>
            </a:r>
            <a:r>
              <a:rPr lang="en-US" sz="1800" dirty="0"/>
              <a:t>Majority of accidents are slight in severity, but severe accidents still form a critical risk segment.</a:t>
            </a:r>
            <a:endParaRPr lang="en-US" dirty="0"/>
          </a:p>
          <a:p>
            <a:pPr marL="0" indent="0">
              <a:buNone/>
            </a:pPr>
            <a:r>
              <a:rPr lang="en-US" sz="1800" dirty="0">
                <a:latin typeface="Arial"/>
                <a:cs typeface="Arial"/>
              </a:rPr>
              <a:t>•</a:t>
            </a:r>
            <a:r>
              <a:rPr lang="en-US" sz="1800" dirty="0"/>
              <a:t>Fatal and serious accidents, though fewer, drive a high share of total casualties.</a:t>
            </a:r>
            <a:endParaRPr lang="en-US" dirty="0"/>
          </a:p>
          <a:p>
            <a:pPr marL="0" indent="0">
              <a:buNone/>
            </a:pPr>
            <a:r>
              <a:rPr lang="en-US" sz="1800" dirty="0">
                <a:latin typeface="Arial"/>
                <a:cs typeface="Arial"/>
              </a:rPr>
              <a:t>•</a:t>
            </a:r>
            <a:r>
              <a:rPr lang="en-US" sz="1800" dirty="0"/>
              <a:t>Multi-Vehicle involvement contributes to higher casualty counts per accident.</a:t>
            </a:r>
            <a:endParaRPr lang="en-US" dirty="0"/>
          </a:p>
          <a:p>
            <a:endParaRPr lang="en-US" dirty="0"/>
          </a:p>
        </p:txBody>
      </p:sp>
    </p:spTree>
    <p:extLst>
      <p:ext uri="{BB962C8B-B14F-4D97-AF65-F5344CB8AC3E}">
        <p14:creationId xmlns:p14="http://schemas.microsoft.com/office/powerpoint/2010/main" val="3209714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45BBE-EE0A-BD8B-0F59-7BF393EEAB16}"/>
              </a:ext>
            </a:extLst>
          </p:cNvPr>
          <p:cNvSpPr>
            <a:spLocks noGrp="1"/>
          </p:cNvSpPr>
          <p:nvPr>
            <p:ph type="title"/>
          </p:nvPr>
        </p:nvSpPr>
        <p:spPr>
          <a:xfrm>
            <a:off x="838200" y="129802"/>
            <a:ext cx="10515600" cy="1426415"/>
          </a:xfrm>
        </p:spPr>
        <p:txBody>
          <a:bodyPr/>
          <a:lstStyle/>
          <a:p>
            <a:r>
              <a:rPr lang="en-US" sz="2800" b="1" dirty="0"/>
              <a:t>1. Road Accident Trends by Date, Month and Quarter(Table Visual)</a:t>
            </a:r>
            <a:br>
              <a:rPr lang="en-US" sz="2800" b="1" dirty="0"/>
            </a:br>
            <a:r>
              <a:rPr lang="en-US" sz="2800" b="1" dirty="0"/>
              <a:t>2. Daily Road Accident Metrics Across Time and Police Force(Metrix Visual)</a:t>
            </a:r>
            <a:endParaRPr lang="en-US" b="1"/>
          </a:p>
        </p:txBody>
      </p:sp>
      <p:pic>
        <p:nvPicPr>
          <p:cNvPr id="4" name="Content Placeholder 3" descr="A screenshot of a graph&#10;&#10;AI-generated content may be incorrect.">
            <a:extLst>
              <a:ext uri="{FF2B5EF4-FFF2-40B4-BE49-F238E27FC236}">
                <a16:creationId xmlns:a16="http://schemas.microsoft.com/office/drawing/2014/main" id="{7B99B264-3FBA-4301-737D-4DCDB32BBA22}"/>
              </a:ext>
            </a:extLst>
          </p:cNvPr>
          <p:cNvPicPr>
            <a:picLocks noGrp="1" noChangeAspect="1"/>
          </p:cNvPicPr>
          <p:nvPr>
            <p:ph idx="1"/>
          </p:nvPr>
        </p:nvPicPr>
        <p:blipFill>
          <a:blip r:embed="rId2"/>
          <a:stretch>
            <a:fillRect/>
          </a:stretch>
        </p:blipFill>
        <p:spPr>
          <a:xfrm>
            <a:off x="835507" y="1556684"/>
            <a:ext cx="10520985" cy="5292631"/>
          </a:xfrm>
          <a:prstGeom prst="rect">
            <a:avLst/>
          </a:prstGeom>
        </p:spPr>
      </p:pic>
    </p:spTree>
    <p:extLst>
      <p:ext uri="{BB962C8B-B14F-4D97-AF65-F5344CB8AC3E}">
        <p14:creationId xmlns:p14="http://schemas.microsoft.com/office/powerpoint/2010/main" val="1106316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E7EE0-E1F6-2F83-F708-90DC5F42CEF3}"/>
              </a:ext>
            </a:extLst>
          </p:cNvPr>
          <p:cNvSpPr>
            <a:spLocks noGrp="1"/>
          </p:cNvSpPr>
          <p:nvPr>
            <p:ph type="title"/>
          </p:nvPr>
        </p:nvSpPr>
        <p:spPr/>
        <p:txBody>
          <a:bodyPr>
            <a:normAutofit/>
          </a:bodyPr>
          <a:lstStyle/>
          <a:p>
            <a:pPr algn="ctr"/>
            <a:r>
              <a:rPr lang="en-US" sz="3600" b="1" i="1" dirty="0"/>
              <a:t>Key Insights:-</a:t>
            </a:r>
            <a:endParaRPr lang="en-US"/>
          </a:p>
        </p:txBody>
      </p:sp>
      <p:sp>
        <p:nvSpPr>
          <p:cNvPr id="3" name="Content Placeholder 2">
            <a:extLst>
              <a:ext uri="{FF2B5EF4-FFF2-40B4-BE49-F238E27FC236}">
                <a16:creationId xmlns:a16="http://schemas.microsoft.com/office/drawing/2014/main" id="{5112ED6A-7ACD-85A2-FF38-56033E02F947}"/>
              </a:ext>
            </a:extLst>
          </p:cNvPr>
          <p:cNvSpPr>
            <a:spLocks noGrp="1"/>
          </p:cNvSpPr>
          <p:nvPr>
            <p:ph idx="1"/>
          </p:nvPr>
        </p:nvSpPr>
        <p:spPr/>
        <p:txBody>
          <a:bodyPr vert="horz" lIns="91440" tIns="45720" rIns="91440" bIns="45720" rtlCol="0" anchor="t">
            <a:normAutofit/>
          </a:bodyPr>
          <a:lstStyle/>
          <a:p>
            <a:pPr marL="0" indent="0">
              <a:buNone/>
            </a:pPr>
            <a:r>
              <a:rPr lang="en-US" sz="1800" dirty="0">
                <a:latin typeface="Arial"/>
                <a:cs typeface="Arial"/>
              </a:rPr>
              <a:t>•</a:t>
            </a:r>
            <a:r>
              <a:rPr lang="en-US" sz="1800" dirty="0"/>
              <a:t>Road accidents peak during the fourth quarter, with October recording the highest total accident count.</a:t>
            </a:r>
            <a:endParaRPr lang="en-US" dirty="0"/>
          </a:p>
          <a:p>
            <a:pPr marL="0" indent="0">
              <a:buNone/>
            </a:pPr>
            <a:r>
              <a:rPr lang="en-US" sz="1800" dirty="0">
                <a:latin typeface="Arial"/>
                <a:cs typeface="Arial"/>
              </a:rPr>
              <a:t>•</a:t>
            </a:r>
            <a:r>
              <a:rPr lang="en-US" sz="1800" dirty="0"/>
              <a:t>August records the highest number of fatal or serious road accidents, indicating increased accident severity during this period.</a:t>
            </a:r>
            <a:endParaRPr lang="en-US" dirty="0"/>
          </a:p>
          <a:p>
            <a:pPr marL="0" indent="0">
              <a:buNone/>
            </a:pPr>
            <a:r>
              <a:rPr lang="en-US" sz="1800" dirty="0">
                <a:latin typeface="Arial"/>
                <a:cs typeface="Arial"/>
              </a:rPr>
              <a:t>•</a:t>
            </a:r>
            <a:r>
              <a:rPr lang="en-US" sz="1800" dirty="0"/>
              <a:t> Accident frequency is highest during afternoon hours.</a:t>
            </a:r>
            <a:endParaRPr lang="en-US" dirty="0"/>
          </a:p>
          <a:p>
            <a:pPr marL="0" indent="0">
              <a:buNone/>
            </a:pPr>
            <a:r>
              <a:rPr lang="en-US" sz="1800" dirty="0">
                <a:latin typeface="Arial"/>
                <a:cs typeface="Arial"/>
              </a:rPr>
              <a:t>•</a:t>
            </a:r>
            <a:r>
              <a:rPr lang="en-US" sz="1800" dirty="0"/>
              <a:t> The Metropolitan Police area consistently records the highest number of accidents across all times of    the day compared to other police forces.</a:t>
            </a:r>
            <a:endParaRPr lang="en-US" dirty="0"/>
          </a:p>
          <a:p>
            <a:endParaRPr lang="en-US" dirty="0"/>
          </a:p>
        </p:txBody>
      </p:sp>
    </p:spTree>
    <p:extLst>
      <p:ext uri="{BB962C8B-B14F-4D97-AF65-F5344CB8AC3E}">
        <p14:creationId xmlns:p14="http://schemas.microsoft.com/office/powerpoint/2010/main" val="760293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68ED2-3F2A-4A0E-68F4-D17DD59F45A6}"/>
              </a:ext>
            </a:extLst>
          </p:cNvPr>
          <p:cNvSpPr>
            <a:spLocks noGrp="1"/>
          </p:cNvSpPr>
          <p:nvPr>
            <p:ph type="title"/>
          </p:nvPr>
        </p:nvSpPr>
        <p:spPr>
          <a:xfrm>
            <a:off x="838200" y="141008"/>
            <a:ext cx="10515600" cy="1347974"/>
          </a:xfrm>
        </p:spPr>
        <p:txBody>
          <a:bodyPr/>
          <a:lstStyle/>
          <a:p>
            <a:pPr algn="ctr"/>
            <a:r>
              <a:rPr lang="en-US" sz="3600" b="1" i="1" dirty="0"/>
              <a:t>Scatter plot(Correlation Analysis) &amp; Map visual</a:t>
            </a:r>
            <a:endParaRPr lang="en-US" b="1" i="1" dirty="0"/>
          </a:p>
        </p:txBody>
      </p:sp>
      <p:pic>
        <p:nvPicPr>
          <p:cNvPr id="4" name="Content Placeholder 3" descr="A screenshot of a graph&#10;&#10;AI-generated content may be incorrect.">
            <a:extLst>
              <a:ext uri="{FF2B5EF4-FFF2-40B4-BE49-F238E27FC236}">
                <a16:creationId xmlns:a16="http://schemas.microsoft.com/office/drawing/2014/main" id="{9032BFCA-DCEE-0B4D-CF30-0D340EA83675}"/>
              </a:ext>
            </a:extLst>
          </p:cNvPr>
          <p:cNvPicPr>
            <a:picLocks noGrp="1" noChangeAspect="1"/>
          </p:cNvPicPr>
          <p:nvPr>
            <p:ph idx="1"/>
          </p:nvPr>
        </p:nvPicPr>
        <p:blipFill>
          <a:blip r:embed="rId2"/>
          <a:stretch>
            <a:fillRect/>
          </a:stretch>
        </p:blipFill>
        <p:spPr>
          <a:xfrm>
            <a:off x="838200" y="1491378"/>
            <a:ext cx="10515600" cy="4975009"/>
          </a:xfrm>
          <a:prstGeom prst="rect">
            <a:avLst/>
          </a:prstGeom>
        </p:spPr>
      </p:pic>
    </p:spTree>
    <p:extLst>
      <p:ext uri="{BB962C8B-B14F-4D97-AF65-F5344CB8AC3E}">
        <p14:creationId xmlns:p14="http://schemas.microsoft.com/office/powerpoint/2010/main" val="918118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0B1F0-8C71-82D8-78F7-B19BF5FADACA}"/>
              </a:ext>
            </a:extLst>
          </p:cNvPr>
          <p:cNvSpPr>
            <a:spLocks noGrp="1"/>
          </p:cNvSpPr>
          <p:nvPr>
            <p:ph type="title"/>
          </p:nvPr>
        </p:nvSpPr>
        <p:spPr/>
        <p:txBody>
          <a:bodyPr>
            <a:normAutofit/>
          </a:bodyPr>
          <a:lstStyle/>
          <a:p>
            <a:pPr algn="ctr"/>
            <a:r>
              <a:rPr lang="en-US" sz="3600" b="1" i="1" dirty="0"/>
              <a:t>Key Insights:-</a:t>
            </a:r>
            <a:endParaRPr lang="en-US"/>
          </a:p>
        </p:txBody>
      </p:sp>
      <p:sp>
        <p:nvSpPr>
          <p:cNvPr id="6" name="Content Placeholder 5">
            <a:extLst>
              <a:ext uri="{FF2B5EF4-FFF2-40B4-BE49-F238E27FC236}">
                <a16:creationId xmlns:a16="http://schemas.microsoft.com/office/drawing/2014/main" id="{47E5C52A-FE92-2BA8-20F7-303A8FE29FDD}"/>
              </a:ext>
            </a:extLst>
          </p:cNvPr>
          <p:cNvSpPr>
            <a:spLocks noGrp="1"/>
          </p:cNvSpPr>
          <p:nvPr>
            <p:ph idx="1"/>
          </p:nvPr>
        </p:nvSpPr>
        <p:spPr/>
        <p:txBody>
          <a:bodyPr vert="horz" lIns="91440" tIns="45720" rIns="91440" bIns="45720" rtlCol="0" anchor="t">
            <a:normAutofit/>
          </a:bodyPr>
          <a:lstStyle/>
          <a:p>
            <a:pPr marL="0" indent="0">
              <a:buNone/>
            </a:pPr>
            <a:r>
              <a:rPr lang="en-US" sz="1800" dirty="0">
                <a:latin typeface="Arial"/>
                <a:cs typeface="Arial"/>
              </a:rPr>
              <a:t>•</a:t>
            </a:r>
            <a:r>
              <a:rPr lang="en-US" sz="1800" dirty="0"/>
              <a:t>Accident casualties increase as the number of vehicles involved rises, indicating a strong relationship between collision complexity and impact.</a:t>
            </a:r>
            <a:endParaRPr lang="en-US" dirty="0"/>
          </a:p>
          <a:p>
            <a:pPr marL="0" indent="0">
              <a:buNone/>
            </a:pPr>
            <a:r>
              <a:rPr lang="en-US" sz="1800" dirty="0">
                <a:latin typeface="Arial"/>
                <a:cs typeface="Arial"/>
              </a:rPr>
              <a:t>•</a:t>
            </a:r>
            <a:r>
              <a:rPr lang="en-US" sz="1800" dirty="0"/>
              <a:t>Speed limit alone does not strongly determine casualty count, as severe outcomes occur across both low and high speed limits.</a:t>
            </a:r>
            <a:endParaRPr lang="en-US" dirty="0"/>
          </a:p>
          <a:p>
            <a:pPr marL="0" indent="0">
              <a:buNone/>
            </a:pPr>
            <a:r>
              <a:rPr lang="en-US" sz="1800" dirty="0">
                <a:latin typeface="Arial"/>
                <a:cs typeface="Arial"/>
              </a:rPr>
              <a:t>•</a:t>
            </a:r>
            <a:r>
              <a:rPr lang="en-US" sz="1800" dirty="0"/>
              <a:t>Fatal or serious accident risk is geographically concentrated within specific police force areas.</a:t>
            </a:r>
            <a:endParaRPr lang="en-US" dirty="0"/>
          </a:p>
          <a:p>
            <a:endParaRPr lang="en-US" dirty="0"/>
          </a:p>
        </p:txBody>
      </p:sp>
    </p:spTree>
    <p:extLst>
      <p:ext uri="{BB962C8B-B14F-4D97-AF65-F5344CB8AC3E}">
        <p14:creationId xmlns:p14="http://schemas.microsoft.com/office/powerpoint/2010/main" val="3556845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E1029-813F-CDFD-C4F1-8EDF4BF1BB40}"/>
              </a:ext>
            </a:extLst>
          </p:cNvPr>
          <p:cNvSpPr>
            <a:spLocks noGrp="1"/>
          </p:cNvSpPr>
          <p:nvPr>
            <p:ph type="title"/>
          </p:nvPr>
        </p:nvSpPr>
        <p:spPr>
          <a:xfrm>
            <a:off x="647700" y="141008"/>
            <a:ext cx="10706100" cy="1347974"/>
          </a:xfrm>
        </p:spPr>
        <p:txBody>
          <a:bodyPr/>
          <a:lstStyle/>
          <a:p>
            <a:pPr algn="ctr"/>
            <a:r>
              <a:rPr lang="en-US" sz="3600" b="1" i="1" dirty="0"/>
              <a:t>Top 5 Accident-Prone Locations Across Authorities</a:t>
            </a:r>
            <a:br>
              <a:rPr lang="en-US" sz="3600" b="1" i="1" dirty="0"/>
            </a:br>
            <a:r>
              <a:rPr lang="en-US" sz="2000" b="1" dirty="0"/>
              <a:t>Subtitle:- </a:t>
            </a:r>
            <a:r>
              <a:rPr lang="en-US" sz="2000" dirty="0">
                <a:ea typeface="+mj-lt"/>
                <a:cs typeface="+mj-lt"/>
              </a:rPr>
              <a:t>Dynamic ranking of accident-prone locations based on selected time, junction, and area filters</a:t>
            </a:r>
            <a:endParaRPr lang="en-US" dirty="0"/>
          </a:p>
        </p:txBody>
      </p:sp>
      <p:pic>
        <p:nvPicPr>
          <p:cNvPr id="4" name="Content Placeholder 3" descr="A screenshot of a graph&#10;&#10;AI-generated content may be incorrect.">
            <a:extLst>
              <a:ext uri="{FF2B5EF4-FFF2-40B4-BE49-F238E27FC236}">
                <a16:creationId xmlns:a16="http://schemas.microsoft.com/office/drawing/2014/main" id="{B21E5846-4727-F629-4385-158783CDA795}"/>
              </a:ext>
            </a:extLst>
          </p:cNvPr>
          <p:cNvPicPr>
            <a:picLocks noGrp="1" noChangeAspect="1"/>
          </p:cNvPicPr>
          <p:nvPr>
            <p:ph idx="1"/>
          </p:nvPr>
        </p:nvPicPr>
        <p:blipFill>
          <a:blip r:embed="rId2"/>
          <a:stretch>
            <a:fillRect/>
          </a:stretch>
        </p:blipFill>
        <p:spPr>
          <a:xfrm>
            <a:off x="837804" y="1489449"/>
            <a:ext cx="10516392" cy="5113337"/>
          </a:xfrm>
          <a:prstGeom prst="rect">
            <a:avLst/>
          </a:prstGeom>
        </p:spPr>
      </p:pic>
    </p:spTree>
    <p:extLst>
      <p:ext uri="{BB962C8B-B14F-4D97-AF65-F5344CB8AC3E}">
        <p14:creationId xmlns:p14="http://schemas.microsoft.com/office/powerpoint/2010/main" val="2220463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8002B-F548-6704-46F6-64298EAA287F}"/>
              </a:ext>
            </a:extLst>
          </p:cNvPr>
          <p:cNvSpPr>
            <a:spLocks noGrp="1"/>
          </p:cNvSpPr>
          <p:nvPr>
            <p:ph type="title"/>
          </p:nvPr>
        </p:nvSpPr>
        <p:spPr/>
        <p:txBody>
          <a:bodyPr>
            <a:normAutofit/>
          </a:bodyPr>
          <a:lstStyle/>
          <a:p>
            <a:pPr algn="ctr"/>
            <a:r>
              <a:rPr lang="en-US" sz="3600" b="1" i="1" dirty="0"/>
              <a:t>Key Insights:-</a:t>
            </a:r>
            <a:endParaRPr lang="en-US"/>
          </a:p>
        </p:txBody>
      </p:sp>
      <p:sp>
        <p:nvSpPr>
          <p:cNvPr id="3" name="Content Placeholder 2">
            <a:extLst>
              <a:ext uri="{FF2B5EF4-FFF2-40B4-BE49-F238E27FC236}">
                <a16:creationId xmlns:a16="http://schemas.microsoft.com/office/drawing/2014/main" id="{ABE93A13-68DC-48BE-E752-5CB98D0B2C22}"/>
              </a:ext>
            </a:extLst>
          </p:cNvPr>
          <p:cNvSpPr>
            <a:spLocks noGrp="1"/>
          </p:cNvSpPr>
          <p:nvPr>
            <p:ph idx="1"/>
          </p:nvPr>
        </p:nvSpPr>
        <p:spPr>
          <a:xfrm>
            <a:off x="838200" y="1825625"/>
            <a:ext cx="10515600" cy="5034896"/>
          </a:xfrm>
        </p:spPr>
        <p:txBody>
          <a:bodyPr vert="horz" lIns="91440" tIns="45720" rIns="91440" bIns="45720" rtlCol="0" anchor="t">
            <a:normAutofit/>
          </a:bodyPr>
          <a:lstStyle/>
          <a:p>
            <a:r>
              <a:rPr lang="en-US" sz="1800" dirty="0">
                <a:ea typeface="+mn-lt"/>
                <a:cs typeface="+mn-lt"/>
              </a:rPr>
              <a:t>Across all months, the Metropolitan Police area consistently records the highest number of accidents, particularly in urban regions, indicating sustained high-risk exposure in metropolitan areas.</a:t>
            </a:r>
            <a:endParaRPr lang="en-US" dirty="0">
              <a:ea typeface="+mn-lt"/>
              <a:cs typeface="+mn-lt"/>
            </a:endParaRPr>
          </a:p>
          <a:p>
            <a:r>
              <a:rPr lang="en-US" sz="1800" dirty="0">
                <a:ea typeface="+mn-lt"/>
                <a:cs typeface="+mn-lt"/>
              </a:rPr>
              <a:t>Within police force areas, local authority districts &amp; local authority highways , urban locations account for the majority of accidents, highlighting traffic density as a key contributor.</a:t>
            </a:r>
            <a:endParaRPr lang="en-US" dirty="0">
              <a:ea typeface="+mn-lt"/>
              <a:cs typeface="+mn-lt"/>
            </a:endParaRPr>
          </a:p>
          <a:p>
            <a:r>
              <a:rPr lang="en-US" sz="1800" dirty="0">
                <a:ea typeface="+mn-lt"/>
                <a:cs typeface="+mn-lt"/>
              </a:rPr>
              <a:t>Among local authority districts, Birmingham records the highest number of accidents across all months, especially in urban area, reinforcing its status as a high-risk district.</a:t>
            </a:r>
            <a:endParaRPr lang="en-US" dirty="0">
              <a:ea typeface="+mn-lt"/>
              <a:cs typeface="+mn-lt"/>
            </a:endParaRPr>
          </a:p>
          <a:p>
            <a:r>
              <a:rPr lang="en-US" sz="1800" dirty="0">
                <a:ea typeface="+mn-lt"/>
                <a:cs typeface="+mn-lt"/>
              </a:rPr>
              <a:t>For local authority highways, Kent  records the highest number of accidents across all months(especially in rural area) except in September where Surrey records  the highest number of accidents.</a:t>
            </a:r>
            <a:endParaRPr lang="en-US" dirty="0">
              <a:ea typeface="+mn-lt"/>
              <a:cs typeface="+mn-lt"/>
            </a:endParaRPr>
          </a:p>
          <a:p>
            <a:r>
              <a:rPr lang="en-US" sz="1800" dirty="0">
                <a:ea typeface="+mn-lt"/>
                <a:cs typeface="+mn-lt"/>
              </a:rPr>
              <a:t>Rural areas generally record fewer accidents compared to urban areas, though specific rural police forces (e.g., Devon &amp; Cornwall) still show relatively higher accident counts within their category.</a:t>
            </a:r>
            <a:endParaRPr lang="en-US" dirty="0">
              <a:ea typeface="+mn-lt"/>
              <a:cs typeface="+mn-lt"/>
            </a:endParaRPr>
          </a:p>
          <a:p>
            <a:pPr marL="457200" indent="-457200"/>
            <a:endParaRPr lang="en-US" sz="1800" dirty="0"/>
          </a:p>
          <a:p>
            <a:pPr marL="457200" indent="-457200"/>
            <a:endParaRPr lang="en-US" dirty="0"/>
          </a:p>
          <a:p>
            <a:pPr marL="457200" indent="-457200"/>
            <a:endParaRPr lang="en-US" dirty="0"/>
          </a:p>
          <a:p>
            <a:endParaRPr lang="en-US" dirty="0"/>
          </a:p>
        </p:txBody>
      </p:sp>
    </p:spTree>
    <p:extLst>
      <p:ext uri="{BB962C8B-B14F-4D97-AF65-F5344CB8AC3E}">
        <p14:creationId xmlns:p14="http://schemas.microsoft.com/office/powerpoint/2010/main" val="2261692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89690-5FFC-5622-FB40-E242C1B35C06}"/>
              </a:ext>
            </a:extLst>
          </p:cNvPr>
          <p:cNvSpPr>
            <a:spLocks noGrp="1"/>
          </p:cNvSpPr>
          <p:nvPr>
            <p:ph type="title"/>
          </p:nvPr>
        </p:nvSpPr>
        <p:spPr>
          <a:xfrm>
            <a:off x="838200" y="208243"/>
            <a:ext cx="10515600" cy="1191092"/>
          </a:xfrm>
        </p:spPr>
        <p:txBody>
          <a:bodyPr>
            <a:normAutofit/>
          </a:bodyPr>
          <a:lstStyle/>
          <a:p>
            <a:pPr algn="ctr"/>
            <a:r>
              <a:rPr lang="en-US" sz="3600" b="1" i="1" dirty="0"/>
              <a:t>Accident and Risk Rate Trends Over Time</a:t>
            </a:r>
            <a:br>
              <a:rPr lang="en-US" sz="3600" b="1" i="1" dirty="0"/>
            </a:br>
            <a:r>
              <a:rPr lang="en-US" sz="2000" b="1" dirty="0">
                <a:ea typeface="+mj-lt"/>
                <a:cs typeface="+mj-lt"/>
              </a:rPr>
              <a:t>Subtitle:-</a:t>
            </a:r>
            <a:r>
              <a:rPr lang="en-US" sz="2000" dirty="0">
                <a:ea typeface="+mj-lt"/>
                <a:cs typeface="+mj-lt"/>
              </a:rPr>
              <a:t> Time-of-day and rush-hour accident patterns under selected season and weekday filters</a:t>
            </a:r>
            <a:endParaRPr lang="en-US" sz="2000" dirty="0"/>
          </a:p>
        </p:txBody>
      </p:sp>
      <p:pic>
        <p:nvPicPr>
          <p:cNvPr id="4" name="Content Placeholder 3" descr="A screenshot of a graph&#10;&#10;AI-generated content may be incorrect.">
            <a:extLst>
              <a:ext uri="{FF2B5EF4-FFF2-40B4-BE49-F238E27FC236}">
                <a16:creationId xmlns:a16="http://schemas.microsoft.com/office/drawing/2014/main" id="{CA8BE548-350D-8F2A-15CF-F1553DAA101E}"/>
              </a:ext>
            </a:extLst>
          </p:cNvPr>
          <p:cNvPicPr>
            <a:picLocks noGrp="1" noChangeAspect="1"/>
          </p:cNvPicPr>
          <p:nvPr>
            <p:ph idx="1"/>
          </p:nvPr>
        </p:nvPicPr>
        <p:blipFill>
          <a:blip r:embed="rId2"/>
          <a:stretch>
            <a:fillRect/>
          </a:stretch>
        </p:blipFill>
        <p:spPr>
          <a:xfrm>
            <a:off x="840514" y="1399802"/>
            <a:ext cx="10510971" cy="5079719"/>
          </a:xfrm>
          <a:prstGeom prst="rect">
            <a:avLst/>
          </a:prstGeom>
        </p:spPr>
      </p:pic>
    </p:spTree>
    <p:extLst>
      <p:ext uri="{BB962C8B-B14F-4D97-AF65-F5344CB8AC3E}">
        <p14:creationId xmlns:p14="http://schemas.microsoft.com/office/powerpoint/2010/main" val="1539250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2E9E8-0878-820B-6D9F-48919AA66509}"/>
              </a:ext>
            </a:extLst>
          </p:cNvPr>
          <p:cNvSpPr>
            <a:spLocks noGrp="1"/>
          </p:cNvSpPr>
          <p:nvPr>
            <p:ph type="title"/>
          </p:nvPr>
        </p:nvSpPr>
        <p:spPr/>
        <p:txBody>
          <a:bodyPr>
            <a:normAutofit/>
          </a:bodyPr>
          <a:lstStyle/>
          <a:p>
            <a:pPr algn="ctr"/>
            <a:r>
              <a:rPr lang="en-US" sz="3600" b="1" i="1" dirty="0"/>
              <a:t>Key Insights:-</a:t>
            </a:r>
            <a:endParaRPr lang="en-US"/>
          </a:p>
        </p:txBody>
      </p:sp>
      <p:sp>
        <p:nvSpPr>
          <p:cNvPr id="3" name="Content Placeholder 2">
            <a:extLst>
              <a:ext uri="{FF2B5EF4-FFF2-40B4-BE49-F238E27FC236}">
                <a16:creationId xmlns:a16="http://schemas.microsoft.com/office/drawing/2014/main" id="{530CA2B3-23CD-735F-DD5C-C7D95AEA2C82}"/>
              </a:ext>
            </a:extLst>
          </p:cNvPr>
          <p:cNvSpPr>
            <a:spLocks noGrp="1"/>
          </p:cNvSpPr>
          <p:nvPr>
            <p:ph idx="1"/>
          </p:nvPr>
        </p:nvSpPr>
        <p:spPr>
          <a:xfrm>
            <a:off x="838200" y="1825625"/>
            <a:ext cx="10515600" cy="4821985"/>
          </a:xfrm>
        </p:spPr>
        <p:txBody>
          <a:bodyPr vert="horz" lIns="91440" tIns="45720" rIns="91440" bIns="45720" rtlCol="0" anchor="t">
            <a:normAutofit/>
          </a:bodyPr>
          <a:lstStyle/>
          <a:p>
            <a:r>
              <a:rPr lang="en-US" sz="1800" dirty="0">
                <a:ea typeface="+mn-lt"/>
                <a:cs typeface="+mn-lt"/>
              </a:rPr>
              <a:t>Across all seasons, accident frequency consistently peaks during afternoon hours, while night-time records the lowest accident volume.</a:t>
            </a:r>
            <a:endParaRPr lang="en-US" dirty="0"/>
          </a:p>
          <a:p>
            <a:r>
              <a:rPr lang="en-US" sz="1800" dirty="0">
                <a:ea typeface="+mn-lt"/>
                <a:cs typeface="+mn-lt"/>
              </a:rPr>
              <a:t>Within the afternoon time period, accident volumes are highest during May and the summer season compared to afternoons in other seasons.</a:t>
            </a:r>
            <a:endParaRPr lang="en-US" dirty="0"/>
          </a:p>
          <a:p>
            <a:r>
              <a:rPr lang="en-US" sz="1800" dirty="0">
                <a:ea typeface="+mn-lt"/>
                <a:cs typeface="+mn-lt"/>
              </a:rPr>
              <a:t>Weekend mornings record the fewest accidents, while weekday night-time consistently shows minimal accident counts, indicating lower traffic exposure during these periods.</a:t>
            </a:r>
          </a:p>
          <a:p>
            <a:r>
              <a:rPr lang="en-US" sz="1800" dirty="0">
                <a:ea typeface="+mn-lt"/>
                <a:cs typeface="+mn-lt"/>
              </a:rPr>
              <a:t>Normal hours account for the highest accident volume, followed by evening rush hours, with morning rush hours across all seasons contributing the least to total accidents.</a:t>
            </a:r>
          </a:p>
          <a:p>
            <a:r>
              <a:rPr lang="en-US" sz="1800" dirty="0"/>
              <a:t>During evening rush hours, Winter season consistently record higher accident volumes compared to evening rush hour of other seasons, while during morning rush hour&amp; normal hours , Autumn season had most accidents as compared to morning rush hour &amp; normal hour of other seasons.</a:t>
            </a:r>
          </a:p>
          <a:p>
            <a:r>
              <a:rPr lang="en-US" sz="1800" dirty="0">
                <a:ea typeface="+mn-lt"/>
                <a:cs typeface="+mn-lt"/>
              </a:rPr>
              <a:t>Weekday accident patterns show distinct time-of-day peaks, with Wednesday evening rush hours recording higher accident volumes compared to other evening rush hours, while Tuesday morning rush hours exhibit the highest accident frequency among morning rush hours.</a:t>
            </a:r>
          </a:p>
          <a:p>
            <a:r>
              <a:rPr lang="en-US" sz="1800" dirty="0">
                <a:ea typeface="+mn-lt"/>
                <a:cs typeface="+mn-lt"/>
              </a:rPr>
              <a:t>During normal daytime hours, Fridays consistently record higher accident volumes compared to normal hours on other weekdays.</a:t>
            </a:r>
          </a:p>
        </p:txBody>
      </p:sp>
    </p:spTree>
    <p:extLst>
      <p:ext uri="{BB962C8B-B14F-4D97-AF65-F5344CB8AC3E}">
        <p14:creationId xmlns:p14="http://schemas.microsoft.com/office/powerpoint/2010/main" val="711472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4FE4B-A669-E7B3-C2C9-4FBEB87A3D90}"/>
              </a:ext>
            </a:extLst>
          </p:cNvPr>
          <p:cNvSpPr>
            <a:spLocks noGrp="1"/>
          </p:cNvSpPr>
          <p:nvPr>
            <p:ph type="title"/>
          </p:nvPr>
        </p:nvSpPr>
        <p:spPr>
          <a:xfrm>
            <a:off x="838200" y="129802"/>
            <a:ext cx="10515600" cy="866122"/>
          </a:xfrm>
        </p:spPr>
        <p:txBody>
          <a:bodyPr>
            <a:normAutofit/>
          </a:bodyPr>
          <a:lstStyle/>
          <a:p>
            <a:pPr algn="ctr"/>
            <a:r>
              <a:rPr lang="en-US" sz="3600" b="1" i="1" dirty="0"/>
              <a:t>Accident and Risk Rate Patterns Across Time</a:t>
            </a:r>
            <a:endParaRPr lang="en-US"/>
          </a:p>
        </p:txBody>
      </p:sp>
      <p:pic>
        <p:nvPicPr>
          <p:cNvPr id="4" name="Content Placeholder 3" descr="A screenshot of a graph&#10;&#10;AI-generated content may be incorrect.">
            <a:extLst>
              <a:ext uri="{FF2B5EF4-FFF2-40B4-BE49-F238E27FC236}">
                <a16:creationId xmlns:a16="http://schemas.microsoft.com/office/drawing/2014/main" id="{FB6D29ED-CA43-179D-C961-F67C2501A588}"/>
              </a:ext>
            </a:extLst>
          </p:cNvPr>
          <p:cNvPicPr>
            <a:picLocks noGrp="1" noChangeAspect="1"/>
          </p:cNvPicPr>
          <p:nvPr>
            <p:ph idx="1"/>
          </p:nvPr>
        </p:nvPicPr>
        <p:blipFill>
          <a:blip r:embed="rId2"/>
          <a:stretch>
            <a:fillRect/>
          </a:stretch>
        </p:blipFill>
        <p:spPr>
          <a:xfrm>
            <a:off x="840421" y="1186890"/>
            <a:ext cx="10511157" cy="5303837"/>
          </a:xfrm>
          <a:prstGeom prst="rect">
            <a:avLst/>
          </a:prstGeom>
        </p:spPr>
      </p:pic>
    </p:spTree>
    <p:extLst>
      <p:ext uri="{BB962C8B-B14F-4D97-AF65-F5344CB8AC3E}">
        <p14:creationId xmlns:p14="http://schemas.microsoft.com/office/powerpoint/2010/main" val="2296814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BB16F-2103-9106-2A91-D7182B74BD01}"/>
              </a:ext>
            </a:extLst>
          </p:cNvPr>
          <p:cNvSpPr>
            <a:spLocks noGrp="1"/>
          </p:cNvSpPr>
          <p:nvPr>
            <p:ph type="title"/>
          </p:nvPr>
        </p:nvSpPr>
        <p:spPr>
          <a:xfrm>
            <a:off x="838200" y="118596"/>
            <a:ext cx="10515600" cy="1347974"/>
          </a:xfrm>
        </p:spPr>
        <p:txBody>
          <a:bodyPr>
            <a:normAutofit/>
          </a:bodyPr>
          <a:lstStyle/>
          <a:p>
            <a:pPr algn="ctr"/>
            <a:r>
              <a:rPr lang="en-US" sz="3600" b="1" i="1" dirty="0"/>
              <a:t>Key Insights:-</a:t>
            </a:r>
            <a:endParaRPr lang="en-US"/>
          </a:p>
        </p:txBody>
      </p:sp>
      <p:sp>
        <p:nvSpPr>
          <p:cNvPr id="3" name="Content Placeholder 2">
            <a:extLst>
              <a:ext uri="{FF2B5EF4-FFF2-40B4-BE49-F238E27FC236}">
                <a16:creationId xmlns:a16="http://schemas.microsoft.com/office/drawing/2014/main" id="{130DDD26-414E-FCFC-5685-E26348B91DFA}"/>
              </a:ext>
            </a:extLst>
          </p:cNvPr>
          <p:cNvSpPr>
            <a:spLocks noGrp="1"/>
          </p:cNvSpPr>
          <p:nvPr>
            <p:ph idx="1"/>
          </p:nvPr>
        </p:nvSpPr>
        <p:spPr>
          <a:xfrm>
            <a:off x="838200" y="1332567"/>
            <a:ext cx="10515600" cy="5393483"/>
          </a:xfrm>
        </p:spPr>
        <p:txBody>
          <a:bodyPr vert="horz" lIns="91440" tIns="45720" rIns="91440" bIns="45720" rtlCol="0" anchor="t">
            <a:normAutofit fontScale="92500" lnSpcReduction="10000"/>
          </a:bodyPr>
          <a:lstStyle/>
          <a:p>
            <a:r>
              <a:rPr lang="en-US" sz="1800" dirty="0">
                <a:ea typeface="+mn-lt"/>
                <a:cs typeface="+mn-lt"/>
              </a:rPr>
              <a:t>Accident frequency peaks during the 17th hour (late afternoon), making it the highest-risk hour in terms of total accident volume.</a:t>
            </a:r>
          </a:p>
          <a:p>
            <a:r>
              <a:rPr lang="en-US" sz="1800" dirty="0">
                <a:ea typeface="+mn-lt"/>
                <a:cs typeface="+mn-lt"/>
              </a:rPr>
              <a:t>Seasonal patterns show contrasting trends:</a:t>
            </a:r>
            <a:endParaRPr lang="en-US" dirty="0"/>
          </a:p>
          <a:p>
            <a:pPr marL="0" indent="0">
              <a:buNone/>
            </a:pPr>
            <a:r>
              <a:rPr lang="en-US" sz="1800" dirty="0">
                <a:ea typeface="+mn-lt"/>
                <a:cs typeface="+mn-lt"/>
              </a:rPr>
              <a:t>       1.Autumn records the highest total number of accidents.</a:t>
            </a:r>
            <a:endParaRPr lang="en-US" dirty="0">
              <a:ea typeface="+mn-lt"/>
              <a:cs typeface="+mn-lt"/>
            </a:endParaRPr>
          </a:p>
          <a:p>
            <a:pPr marL="0" indent="0">
              <a:buNone/>
            </a:pPr>
            <a:r>
              <a:rPr lang="en-US" sz="1800" dirty="0">
                <a:ea typeface="+mn-lt"/>
                <a:cs typeface="+mn-lt"/>
              </a:rPr>
              <a:t>       2.Winter records fewer accidents but shows relatively higher fatal or serious risk rates.</a:t>
            </a:r>
            <a:endParaRPr lang="en-US" dirty="0"/>
          </a:p>
          <a:p>
            <a:pPr marL="0" indent="0">
              <a:buNone/>
            </a:pPr>
            <a:r>
              <a:rPr lang="en-US" sz="1800" dirty="0">
                <a:ea typeface="+mn-lt"/>
                <a:cs typeface="+mn-lt"/>
              </a:rPr>
              <a:t>       3.Summer exhibits the highest fatal or serious risk rate, despite not having the highest accident volume.</a:t>
            </a:r>
            <a:endParaRPr lang="en-US" dirty="0"/>
          </a:p>
          <a:p>
            <a:r>
              <a:rPr lang="en-US" sz="1800" dirty="0">
                <a:ea typeface="+mn-lt"/>
                <a:cs typeface="+mn-lt"/>
              </a:rPr>
              <a:t>Weather conditions significantly influence accident occurrence:</a:t>
            </a:r>
            <a:endParaRPr lang="en-US" dirty="0"/>
          </a:p>
          <a:p>
            <a:pPr marL="0" indent="0">
              <a:buNone/>
            </a:pPr>
            <a:r>
              <a:rPr lang="en-US" sz="1800" dirty="0">
                <a:ea typeface="+mn-lt"/>
                <a:cs typeface="+mn-lt"/>
              </a:rPr>
              <a:t>       1.Clear weather consistently records more accidents than adverse weather.</a:t>
            </a:r>
            <a:endParaRPr lang="en-US" dirty="0">
              <a:ea typeface="+mn-lt"/>
              <a:cs typeface="+mn-lt"/>
            </a:endParaRPr>
          </a:p>
          <a:p>
            <a:pPr marL="0" indent="0">
              <a:buNone/>
            </a:pPr>
            <a:r>
              <a:rPr lang="en-US" sz="1800" dirty="0">
                <a:ea typeface="+mn-lt"/>
                <a:cs typeface="+mn-lt"/>
              </a:rPr>
              <a:t>       2.However, adverse weather is associated with comparatively higher fatal or serious risk rates.</a:t>
            </a:r>
            <a:endParaRPr lang="en-US" dirty="0"/>
          </a:p>
          <a:p>
            <a:r>
              <a:rPr lang="en-US" sz="1800" dirty="0">
                <a:ea typeface="+mn-lt"/>
                <a:cs typeface="+mn-lt"/>
              </a:rPr>
              <a:t>Weekday patterns dominate accident trends:</a:t>
            </a:r>
            <a:endParaRPr lang="en-US" dirty="0"/>
          </a:p>
          <a:p>
            <a:pPr marL="0" indent="0">
              <a:buNone/>
            </a:pPr>
            <a:r>
              <a:rPr lang="en-US" sz="1800" dirty="0">
                <a:ea typeface="+mn-lt"/>
                <a:cs typeface="+mn-lt"/>
              </a:rPr>
              <a:t>       1.Fridays record the highest number of accidents among weekdays.</a:t>
            </a:r>
            <a:endParaRPr lang="en-US" dirty="0"/>
          </a:p>
          <a:p>
            <a:pPr marL="0" indent="0">
              <a:buNone/>
            </a:pPr>
            <a:r>
              <a:rPr lang="en-US" sz="1800" dirty="0">
                <a:ea typeface="+mn-lt"/>
                <a:cs typeface="+mn-lt"/>
              </a:rPr>
              <a:t>       2.Sundays show the lowest accident counts, though they exhibit a relatively higher fatal or serious risk rate.</a:t>
            </a:r>
            <a:endParaRPr lang="en-US" dirty="0">
              <a:ea typeface="+mn-lt"/>
              <a:cs typeface="+mn-lt"/>
            </a:endParaRPr>
          </a:p>
          <a:p>
            <a:r>
              <a:rPr lang="en-US" sz="1800" dirty="0">
                <a:ea typeface="+mn-lt"/>
                <a:cs typeface="+mn-lt"/>
              </a:rPr>
              <a:t>Monthly variation highlights differing volume vs severity patterns:</a:t>
            </a:r>
            <a:endParaRPr lang="en-US" dirty="0"/>
          </a:p>
          <a:p>
            <a:pPr marL="0" indent="0">
              <a:buNone/>
            </a:pPr>
            <a:r>
              <a:rPr lang="en-US" sz="1800" dirty="0">
                <a:ea typeface="+mn-lt"/>
                <a:cs typeface="+mn-lt"/>
              </a:rPr>
              <a:t>       1.October records the highest total number of accidents.</a:t>
            </a:r>
            <a:endParaRPr lang="en-US" dirty="0">
              <a:ea typeface="+mn-lt"/>
              <a:cs typeface="+mn-lt"/>
            </a:endParaRPr>
          </a:p>
          <a:p>
            <a:pPr marL="0" indent="0">
              <a:buNone/>
            </a:pPr>
            <a:r>
              <a:rPr lang="en-US" sz="1800" dirty="0">
                <a:ea typeface="+mn-lt"/>
                <a:cs typeface="+mn-lt"/>
              </a:rPr>
              <a:t>       2.August shows the highest fatal or serious risk rate, indicating increased accident severity during this period.</a:t>
            </a:r>
            <a:endParaRPr lang="en-US" dirty="0"/>
          </a:p>
          <a:p>
            <a:endParaRPr lang="en-US" sz="1800" dirty="0"/>
          </a:p>
          <a:p>
            <a:endParaRPr lang="en-US" sz="1800" dirty="0"/>
          </a:p>
        </p:txBody>
      </p:sp>
    </p:spTree>
    <p:extLst>
      <p:ext uri="{BB962C8B-B14F-4D97-AF65-F5344CB8AC3E}">
        <p14:creationId xmlns:p14="http://schemas.microsoft.com/office/powerpoint/2010/main" val="3162120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6DDCA-3405-8906-08F1-A7AE8EF329CD}"/>
              </a:ext>
            </a:extLst>
          </p:cNvPr>
          <p:cNvSpPr>
            <a:spLocks noGrp="1"/>
          </p:cNvSpPr>
          <p:nvPr>
            <p:ph type="title"/>
          </p:nvPr>
        </p:nvSpPr>
        <p:spPr>
          <a:xfrm>
            <a:off x="838200" y="6537"/>
            <a:ext cx="10515600" cy="1460033"/>
          </a:xfrm>
        </p:spPr>
        <p:txBody>
          <a:bodyPr>
            <a:normAutofit/>
          </a:bodyPr>
          <a:lstStyle/>
          <a:p>
            <a:pPr algn="ctr"/>
            <a:r>
              <a:rPr lang="en-US" sz="3600" b="1" i="1" dirty="0"/>
              <a:t>Road Infrastructure and Condition Impact on Accidents</a:t>
            </a:r>
            <a:br>
              <a:rPr lang="en-US" sz="3600" b="1" i="1" dirty="0"/>
            </a:br>
            <a:r>
              <a:rPr lang="en-US" sz="2200" b="1" dirty="0">
                <a:latin typeface="Aptos"/>
              </a:rPr>
              <a:t>Subtitle:-</a:t>
            </a:r>
            <a:r>
              <a:rPr lang="en-US" sz="2200" dirty="0">
                <a:latin typeface="Aptos"/>
              </a:rPr>
              <a:t>Patterns analyzed across pedestrian crossing, time of day and season.</a:t>
            </a:r>
            <a:endParaRPr lang="en-US" sz="2000" dirty="0"/>
          </a:p>
        </p:txBody>
      </p:sp>
      <p:sp>
        <p:nvSpPr>
          <p:cNvPr id="3" name="Content Placeholder 2">
            <a:extLst>
              <a:ext uri="{FF2B5EF4-FFF2-40B4-BE49-F238E27FC236}">
                <a16:creationId xmlns:a16="http://schemas.microsoft.com/office/drawing/2014/main" id="{BCEE0A1A-A2E4-2A72-9D44-1535D55F1432}"/>
              </a:ext>
            </a:extLst>
          </p:cNvPr>
          <p:cNvSpPr>
            <a:spLocks noGrp="1"/>
          </p:cNvSpPr>
          <p:nvPr>
            <p:ph idx="1"/>
          </p:nvPr>
        </p:nvSpPr>
        <p:spPr>
          <a:xfrm>
            <a:off x="838200" y="1175684"/>
            <a:ext cx="10515600" cy="5001279"/>
          </a:xfrm>
        </p:spPr>
        <p:txBody>
          <a:bodyPr vert="horz" lIns="91440" tIns="45720" rIns="91440" bIns="45720" rtlCol="0" anchor="t">
            <a:normAutofit/>
          </a:bodyPr>
          <a:lstStyle/>
          <a:p>
            <a:pPr marL="0" indent="0">
              <a:buNone/>
            </a:pPr>
            <a:endParaRPr lang="en-US" sz="2000" dirty="0"/>
          </a:p>
          <a:p>
            <a:endParaRPr lang="en-US" sz="1800" dirty="0"/>
          </a:p>
        </p:txBody>
      </p:sp>
      <p:pic>
        <p:nvPicPr>
          <p:cNvPr id="4" name="Picture 3" descr="A screenshot of a graph&#10;&#10;AI-generated content may be incorrect.">
            <a:extLst>
              <a:ext uri="{FF2B5EF4-FFF2-40B4-BE49-F238E27FC236}">
                <a16:creationId xmlns:a16="http://schemas.microsoft.com/office/drawing/2014/main" id="{76931D81-2EBA-2DCB-FC56-B405DADCF336}"/>
              </a:ext>
            </a:extLst>
          </p:cNvPr>
          <p:cNvPicPr>
            <a:picLocks noChangeAspect="1"/>
          </p:cNvPicPr>
          <p:nvPr/>
        </p:nvPicPr>
        <p:blipFill>
          <a:blip r:embed="rId2"/>
          <a:stretch>
            <a:fillRect/>
          </a:stretch>
        </p:blipFill>
        <p:spPr>
          <a:xfrm>
            <a:off x="835958" y="1597398"/>
            <a:ext cx="10520084" cy="5265644"/>
          </a:xfrm>
          <a:prstGeom prst="rect">
            <a:avLst/>
          </a:prstGeom>
        </p:spPr>
      </p:pic>
    </p:spTree>
    <p:extLst>
      <p:ext uri="{BB962C8B-B14F-4D97-AF65-F5344CB8AC3E}">
        <p14:creationId xmlns:p14="http://schemas.microsoft.com/office/powerpoint/2010/main" val="3687315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7572B-3077-A3CB-5B15-8D333EF57722}"/>
              </a:ext>
            </a:extLst>
          </p:cNvPr>
          <p:cNvSpPr>
            <a:spLocks noGrp="1"/>
          </p:cNvSpPr>
          <p:nvPr>
            <p:ph type="title"/>
          </p:nvPr>
        </p:nvSpPr>
        <p:spPr>
          <a:xfrm>
            <a:off x="838200" y="129802"/>
            <a:ext cx="10515600" cy="1269533"/>
          </a:xfrm>
        </p:spPr>
        <p:txBody>
          <a:bodyPr>
            <a:normAutofit/>
          </a:bodyPr>
          <a:lstStyle/>
          <a:p>
            <a:pPr algn="ctr"/>
            <a:r>
              <a:rPr lang="en-US" sz="3600" b="1" i="1" dirty="0"/>
              <a:t>Key Insights:-</a:t>
            </a:r>
            <a:endParaRPr lang="en-US"/>
          </a:p>
        </p:txBody>
      </p:sp>
      <p:sp>
        <p:nvSpPr>
          <p:cNvPr id="3" name="Content Placeholder 2">
            <a:extLst>
              <a:ext uri="{FF2B5EF4-FFF2-40B4-BE49-F238E27FC236}">
                <a16:creationId xmlns:a16="http://schemas.microsoft.com/office/drawing/2014/main" id="{C61357BD-9901-F135-9CC8-D5FC35147F35}"/>
              </a:ext>
            </a:extLst>
          </p:cNvPr>
          <p:cNvSpPr>
            <a:spLocks noGrp="1"/>
          </p:cNvSpPr>
          <p:nvPr>
            <p:ph idx="1"/>
          </p:nvPr>
        </p:nvSpPr>
        <p:spPr>
          <a:xfrm>
            <a:off x="838200" y="1265332"/>
            <a:ext cx="10515600" cy="5595188"/>
          </a:xfrm>
        </p:spPr>
        <p:txBody>
          <a:bodyPr vert="horz" lIns="91440" tIns="45720" rIns="91440" bIns="45720" rtlCol="0" anchor="t">
            <a:normAutofit/>
          </a:bodyPr>
          <a:lstStyle/>
          <a:p>
            <a:pPr marL="0" indent="0">
              <a:buNone/>
            </a:pPr>
            <a:r>
              <a:rPr lang="en-US" sz="1800" b="1" dirty="0"/>
              <a:t>General Patterns:-</a:t>
            </a:r>
            <a:endParaRPr lang="en-US" dirty="0">
              <a:ea typeface="+mn-lt"/>
              <a:cs typeface="+mn-lt"/>
            </a:endParaRPr>
          </a:p>
          <a:p>
            <a:r>
              <a:rPr lang="en-US" sz="1800" dirty="0">
                <a:ea typeface="+mn-lt"/>
                <a:cs typeface="+mn-lt"/>
              </a:rPr>
              <a:t>Urban areas consistently record more accidents than rural areas, with locations without junctions contributing more accidents than junction-controlled locations.</a:t>
            </a:r>
            <a:endParaRPr lang="en-US"/>
          </a:p>
          <a:p>
            <a:r>
              <a:rPr lang="en-US" sz="1800" dirty="0">
                <a:ea typeface="+mn-lt"/>
                <a:cs typeface="+mn-lt"/>
              </a:rPr>
              <a:t>Single carriageways combined with normal road surface conditions account for the highest number of accidents, significantly exceeding other road types and surface combinations.</a:t>
            </a:r>
            <a:endParaRPr lang="en-US" dirty="0">
              <a:ea typeface="+mn-lt"/>
              <a:cs typeface="+mn-lt"/>
            </a:endParaRPr>
          </a:p>
          <a:p>
            <a:endParaRPr lang="en-US" sz="1800" dirty="0"/>
          </a:p>
          <a:p>
            <a:pPr marL="0" indent="0">
              <a:buNone/>
            </a:pPr>
            <a:r>
              <a:rPr lang="en-US" sz="1800" b="1" dirty="0"/>
              <a:t>Impact of pedestrian crossing:-</a:t>
            </a:r>
          </a:p>
          <a:p>
            <a:r>
              <a:rPr lang="en-US" sz="1800" dirty="0">
                <a:ea typeface="+mn-lt"/>
                <a:cs typeface="+mn-lt"/>
              </a:rPr>
              <a:t>Locations without pedestrian crossings record the highest number of accidents, particularly at non-junction locations.</a:t>
            </a:r>
            <a:endParaRPr lang="en-US" dirty="0">
              <a:ea typeface="+mn-lt"/>
              <a:cs typeface="+mn-lt"/>
            </a:endParaRPr>
          </a:p>
          <a:p>
            <a:r>
              <a:rPr lang="en-US" sz="1800" dirty="0">
                <a:ea typeface="+mn-lt"/>
                <a:cs typeface="+mn-lt"/>
              </a:rPr>
              <a:t>Controlled crossings are associated with fewer accidents, especially in urban areas, indicating their effectiveness in reducing collision frequency.</a:t>
            </a:r>
            <a:endParaRPr lang="en-US" dirty="0">
              <a:ea typeface="+mn-lt"/>
              <a:cs typeface="+mn-lt"/>
            </a:endParaRPr>
          </a:p>
          <a:p>
            <a:r>
              <a:rPr lang="en-US" sz="1800" dirty="0">
                <a:ea typeface="+mn-lt"/>
                <a:cs typeface="+mn-lt"/>
              </a:rPr>
              <a:t>In urban areas, uncontrolled pedestrian crossings contribute a lower share of accidents compared to controlled crossings, while rural areas show a lower overall impact from pedestrian crossing types.</a:t>
            </a:r>
            <a:endParaRPr lang="en-US" dirty="0"/>
          </a:p>
          <a:p>
            <a:pPr marL="0" indent="0">
              <a:buNone/>
            </a:pPr>
            <a:endParaRPr lang="en-US" sz="1800" dirty="0"/>
          </a:p>
        </p:txBody>
      </p:sp>
    </p:spTree>
    <p:extLst>
      <p:ext uri="{BB962C8B-B14F-4D97-AF65-F5344CB8AC3E}">
        <p14:creationId xmlns:p14="http://schemas.microsoft.com/office/powerpoint/2010/main" val="1787420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896B5-C993-7C9F-EB9D-33088AF250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B5B29-5608-ECA5-86C3-58468C10B200}"/>
              </a:ext>
            </a:extLst>
          </p:cNvPr>
          <p:cNvSpPr>
            <a:spLocks noGrp="1"/>
          </p:cNvSpPr>
          <p:nvPr>
            <p:ph type="title"/>
          </p:nvPr>
        </p:nvSpPr>
        <p:spPr>
          <a:xfrm>
            <a:off x="838200" y="129802"/>
            <a:ext cx="10515600" cy="1269533"/>
          </a:xfrm>
        </p:spPr>
        <p:txBody>
          <a:bodyPr>
            <a:normAutofit/>
          </a:bodyPr>
          <a:lstStyle/>
          <a:p>
            <a:pPr algn="ctr"/>
            <a:r>
              <a:rPr lang="en-US" sz="3600" b="1" i="1" dirty="0"/>
              <a:t>Key Insights:-</a:t>
            </a:r>
            <a:endParaRPr lang="en-US"/>
          </a:p>
        </p:txBody>
      </p:sp>
      <p:sp>
        <p:nvSpPr>
          <p:cNvPr id="3" name="Content Placeholder 2">
            <a:extLst>
              <a:ext uri="{FF2B5EF4-FFF2-40B4-BE49-F238E27FC236}">
                <a16:creationId xmlns:a16="http://schemas.microsoft.com/office/drawing/2014/main" id="{3E519591-5B87-E92D-F93D-9DD68C6545BD}"/>
              </a:ext>
            </a:extLst>
          </p:cNvPr>
          <p:cNvSpPr>
            <a:spLocks noGrp="1"/>
          </p:cNvSpPr>
          <p:nvPr>
            <p:ph idx="1"/>
          </p:nvPr>
        </p:nvSpPr>
        <p:spPr>
          <a:xfrm>
            <a:off x="838200" y="1265332"/>
            <a:ext cx="10515600" cy="5595188"/>
          </a:xfrm>
        </p:spPr>
        <p:txBody>
          <a:bodyPr vert="horz" lIns="91440" tIns="45720" rIns="91440" bIns="45720" rtlCol="0" anchor="t">
            <a:normAutofit/>
          </a:bodyPr>
          <a:lstStyle/>
          <a:p>
            <a:pPr marL="0" indent="0">
              <a:buNone/>
            </a:pPr>
            <a:r>
              <a:rPr lang="en-US" sz="1800" b="1" dirty="0"/>
              <a:t>Impact of time:-</a:t>
            </a:r>
          </a:p>
          <a:p>
            <a:pPr marL="0" indent="0">
              <a:buNone/>
            </a:pPr>
            <a:r>
              <a:rPr lang="en-US" sz="1800" dirty="0"/>
              <a:t>1.In rural area, Morning time &amp; Summer season show higher accidents as compared to other seasons, While in urban area, evening time &amp; winter season show higher accidents as compared to other seasons.</a:t>
            </a:r>
          </a:p>
          <a:p>
            <a:pPr marL="0" indent="0">
              <a:buNone/>
            </a:pPr>
            <a:endParaRPr lang="en-US" sz="1800" dirty="0"/>
          </a:p>
          <a:p>
            <a:pPr marL="0" indent="0">
              <a:buNone/>
            </a:pPr>
            <a:r>
              <a:rPr lang="en-US" sz="1800" dirty="0"/>
              <a:t>2.During afternoon time &amp; autumn season, junction &amp; not junction locations record highest accidents. While during night &amp; winter season consistently show lower accident counts.</a:t>
            </a:r>
          </a:p>
          <a:p>
            <a:pPr marL="0" indent="0">
              <a:buNone/>
            </a:pPr>
            <a:endParaRPr lang="en-US" sz="1800" dirty="0"/>
          </a:p>
          <a:p>
            <a:pPr marL="0" indent="0">
              <a:buNone/>
            </a:pPr>
            <a:r>
              <a:rPr lang="en-US" sz="1800" dirty="0"/>
              <a:t>3.Generally in winter season accidents are lowest, but for controlled &amp; uncontrolled crossing, during summer season accidents are lowest.</a:t>
            </a:r>
          </a:p>
          <a:p>
            <a:pPr marL="0" indent="0">
              <a:buNone/>
            </a:pPr>
            <a:endParaRPr lang="en-US" sz="1800" dirty="0"/>
          </a:p>
          <a:p>
            <a:pPr marL="0" indent="0">
              <a:buNone/>
            </a:pPr>
            <a:r>
              <a:rPr lang="en-US" sz="1800" dirty="0"/>
              <a:t>4.For "one way street"(road type), during summer and autumn season, accidents were maximum, while for other road types, accidents were highest in autumn season only.</a:t>
            </a:r>
          </a:p>
          <a:p>
            <a:endParaRPr lang="en-US" sz="1800" dirty="0"/>
          </a:p>
          <a:p>
            <a:endParaRPr lang="en-US" sz="1800" dirty="0"/>
          </a:p>
          <a:p>
            <a:endParaRPr lang="en-US" sz="1800" dirty="0"/>
          </a:p>
        </p:txBody>
      </p:sp>
    </p:spTree>
    <p:extLst>
      <p:ext uri="{BB962C8B-B14F-4D97-AF65-F5344CB8AC3E}">
        <p14:creationId xmlns:p14="http://schemas.microsoft.com/office/powerpoint/2010/main" val="1489450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00580-95A6-0BCA-1C85-56D3CF9D774C}"/>
              </a:ext>
            </a:extLst>
          </p:cNvPr>
          <p:cNvSpPr>
            <a:spLocks noGrp="1"/>
          </p:cNvSpPr>
          <p:nvPr>
            <p:ph type="title"/>
          </p:nvPr>
        </p:nvSpPr>
        <p:spPr>
          <a:xfrm>
            <a:off x="838200" y="17743"/>
            <a:ext cx="10515600" cy="1695356"/>
          </a:xfrm>
        </p:spPr>
        <p:txBody>
          <a:bodyPr>
            <a:normAutofit/>
          </a:bodyPr>
          <a:lstStyle/>
          <a:p>
            <a:pPr algn="ctr"/>
            <a:r>
              <a:rPr lang="en-US" sz="3600" b="1" i="1" dirty="0"/>
              <a:t>Accident Distribution by Road Classification</a:t>
            </a:r>
            <a:br>
              <a:rPr lang="en-US" sz="3600" b="1" i="1" dirty="0"/>
            </a:br>
            <a:r>
              <a:rPr lang="en-US" sz="2000" b="1" dirty="0">
                <a:latin typeface="Aptos"/>
              </a:rPr>
              <a:t>Subtitle:-</a:t>
            </a:r>
            <a:r>
              <a:rPr lang="en-US" sz="2000" dirty="0">
                <a:latin typeface="Aptos"/>
              </a:rPr>
              <a:t>Patterns analyzed across time of day and season.</a:t>
            </a:r>
            <a:endParaRPr lang="en-US" sz="2000" b="1" i="1" dirty="0"/>
          </a:p>
        </p:txBody>
      </p:sp>
      <p:pic>
        <p:nvPicPr>
          <p:cNvPr id="4" name="Content Placeholder 3" descr="A screenshot of a graph&#10;&#10;AI-generated content may be incorrect.">
            <a:extLst>
              <a:ext uri="{FF2B5EF4-FFF2-40B4-BE49-F238E27FC236}">
                <a16:creationId xmlns:a16="http://schemas.microsoft.com/office/drawing/2014/main" id="{E6050FF7-6D99-FE71-81A5-9E7ED23F4080}"/>
              </a:ext>
            </a:extLst>
          </p:cNvPr>
          <p:cNvPicPr>
            <a:picLocks noGrp="1" noChangeAspect="1"/>
          </p:cNvPicPr>
          <p:nvPr>
            <p:ph idx="1"/>
          </p:nvPr>
        </p:nvPicPr>
        <p:blipFill>
          <a:blip r:embed="rId2"/>
          <a:stretch>
            <a:fillRect/>
          </a:stretch>
        </p:blipFill>
        <p:spPr>
          <a:xfrm>
            <a:off x="839531" y="1836831"/>
            <a:ext cx="10512937" cy="5012485"/>
          </a:xfrm>
          <a:prstGeom prst="rect">
            <a:avLst/>
          </a:prstGeom>
        </p:spPr>
      </p:pic>
    </p:spTree>
    <p:extLst>
      <p:ext uri="{BB962C8B-B14F-4D97-AF65-F5344CB8AC3E}">
        <p14:creationId xmlns:p14="http://schemas.microsoft.com/office/powerpoint/2010/main" val="1456022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6F97B-EBF1-959D-786C-67A90B7938A1}"/>
              </a:ext>
            </a:extLst>
          </p:cNvPr>
          <p:cNvSpPr>
            <a:spLocks noGrp="1"/>
          </p:cNvSpPr>
          <p:nvPr>
            <p:ph type="title"/>
          </p:nvPr>
        </p:nvSpPr>
        <p:spPr/>
        <p:txBody>
          <a:bodyPr>
            <a:normAutofit/>
          </a:bodyPr>
          <a:lstStyle/>
          <a:p>
            <a:pPr algn="ctr"/>
            <a:r>
              <a:rPr lang="en-US" sz="3600" b="1" i="1" dirty="0"/>
              <a:t>Key Insights:-</a:t>
            </a:r>
            <a:endParaRPr lang="en-US"/>
          </a:p>
        </p:txBody>
      </p:sp>
      <p:sp>
        <p:nvSpPr>
          <p:cNvPr id="3" name="Content Placeholder 2">
            <a:extLst>
              <a:ext uri="{FF2B5EF4-FFF2-40B4-BE49-F238E27FC236}">
                <a16:creationId xmlns:a16="http://schemas.microsoft.com/office/drawing/2014/main" id="{7981B192-8C2D-95DF-E3E7-036A512EC2CE}"/>
              </a:ext>
            </a:extLst>
          </p:cNvPr>
          <p:cNvSpPr>
            <a:spLocks noGrp="1"/>
          </p:cNvSpPr>
          <p:nvPr>
            <p:ph idx="1"/>
          </p:nvPr>
        </p:nvSpPr>
        <p:spPr>
          <a:xfrm>
            <a:off x="838200" y="1825625"/>
            <a:ext cx="10515600" cy="5023690"/>
          </a:xfrm>
        </p:spPr>
        <p:txBody>
          <a:bodyPr vert="horz" lIns="91440" tIns="45720" rIns="91440" bIns="45720" rtlCol="0" anchor="t">
            <a:normAutofit/>
          </a:bodyPr>
          <a:lstStyle/>
          <a:p>
            <a:pPr marL="0" indent="0">
              <a:buNone/>
            </a:pPr>
            <a:r>
              <a:rPr lang="en-US" sz="1800" b="1" dirty="0"/>
              <a:t>First roadclass:-</a:t>
            </a:r>
            <a:endParaRPr lang="en-US" b="1"/>
          </a:p>
          <a:p>
            <a:r>
              <a:rPr lang="en-US" sz="1800" dirty="0"/>
              <a:t>In first road class, </a:t>
            </a:r>
            <a:r>
              <a:rPr lang="en-US" sz="1800" b="1" dirty="0"/>
              <a:t>"A" -class roads</a:t>
            </a:r>
            <a:r>
              <a:rPr lang="en-US" sz="1800" dirty="0"/>
              <a:t> has maximum accidents of all other first road class.</a:t>
            </a:r>
            <a:endParaRPr lang="en-US" dirty="0"/>
          </a:p>
          <a:p>
            <a:r>
              <a:rPr lang="en-US" sz="1800" dirty="0"/>
              <a:t>In general, Accidents for </a:t>
            </a:r>
            <a:r>
              <a:rPr lang="en-US" sz="1800" b="1" dirty="0"/>
              <a:t>all first road class</a:t>
            </a:r>
            <a:r>
              <a:rPr lang="en-US" sz="1800" dirty="0"/>
              <a:t> peak during afternoon hours and autumn season, while minimum accidents were observed during night and winter season.</a:t>
            </a:r>
          </a:p>
          <a:p>
            <a:r>
              <a:rPr lang="en-US" sz="1800" b="1" dirty="0"/>
              <a:t>Motorways &amp;  A(M) roads</a:t>
            </a:r>
            <a:r>
              <a:rPr lang="en-US" sz="1800" dirty="0"/>
              <a:t>  record higher accidents during morning hours.</a:t>
            </a:r>
          </a:p>
          <a:p>
            <a:r>
              <a:rPr lang="en-US" sz="1800" b="1" dirty="0"/>
              <a:t>Motorways</a:t>
            </a:r>
            <a:r>
              <a:rPr lang="en-US" sz="1800" dirty="0"/>
              <a:t> record min accidents  during spring season, while </a:t>
            </a:r>
            <a:r>
              <a:rPr lang="en-US" sz="1800" b="1" dirty="0"/>
              <a:t>A(M) roads</a:t>
            </a:r>
            <a:r>
              <a:rPr lang="en-US" sz="1800" dirty="0"/>
              <a:t> record higher accidents during spring season.</a:t>
            </a:r>
          </a:p>
          <a:p>
            <a:endParaRPr lang="en-US" sz="1800" dirty="0"/>
          </a:p>
          <a:p>
            <a:pPr marL="0" indent="0">
              <a:buNone/>
            </a:pPr>
            <a:r>
              <a:rPr lang="en-US" sz="1800" b="1" dirty="0"/>
              <a:t>Second road class:-</a:t>
            </a:r>
          </a:p>
          <a:p>
            <a:r>
              <a:rPr lang="en-US" sz="1800" dirty="0"/>
              <a:t>In second road class,  </a:t>
            </a:r>
            <a:r>
              <a:rPr lang="en-US" sz="1800" b="1" dirty="0"/>
              <a:t>locations away from junctions</a:t>
            </a:r>
            <a:r>
              <a:rPr lang="en-US" sz="1800" dirty="0"/>
              <a:t> ("not at junction or within 20m" ) consistently record highest number of accidents as compared to all other second road class.</a:t>
            </a:r>
          </a:p>
          <a:p>
            <a:r>
              <a:rPr lang="en-US" sz="1800" b="1" dirty="0"/>
              <a:t>Locations away from junction</a:t>
            </a:r>
            <a:r>
              <a:rPr lang="en-US" sz="1800" dirty="0"/>
              <a:t> record higher accidents in summer instead of autumn.</a:t>
            </a:r>
          </a:p>
          <a:p>
            <a:r>
              <a:rPr lang="en-US" sz="1800" dirty="0"/>
              <a:t>On </a:t>
            </a:r>
            <a:r>
              <a:rPr lang="en-US" sz="1800" b="1" dirty="0"/>
              <a:t>B-class roads &amp; Motorways</a:t>
            </a:r>
            <a:r>
              <a:rPr lang="en-US" sz="1800" dirty="0"/>
              <a:t>, accidents were more frequent during morning hours rather than  afternoon.</a:t>
            </a:r>
          </a:p>
        </p:txBody>
      </p:sp>
    </p:spTree>
    <p:extLst>
      <p:ext uri="{BB962C8B-B14F-4D97-AF65-F5344CB8AC3E}">
        <p14:creationId xmlns:p14="http://schemas.microsoft.com/office/powerpoint/2010/main" val="2080897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9D013-7450-8C9C-7D3E-6AC5C7351C28}"/>
              </a:ext>
            </a:extLst>
          </p:cNvPr>
          <p:cNvSpPr>
            <a:spLocks noGrp="1"/>
          </p:cNvSpPr>
          <p:nvPr>
            <p:ph type="title"/>
          </p:nvPr>
        </p:nvSpPr>
        <p:spPr>
          <a:xfrm>
            <a:off x="838200" y="107390"/>
            <a:ext cx="10515600" cy="1291945"/>
          </a:xfrm>
        </p:spPr>
        <p:txBody>
          <a:bodyPr>
            <a:normAutofit/>
          </a:bodyPr>
          <a:lstStyle/>
          <a:p>
            <a:pPr algn="ctr"/>
            <a:r>
              <a:rPr lang="en-US" sz="3600" b="1" i="1" dirty="0"/>
              <a:t>Accident severity and Risk Patterns by Road Surface Conditions, Speed and Environmental Conditions</a:t>
            </a:r>
            <a:endParaRPr lang="en-US"/>
          </a:p>
        </p:txBody>
      </p:sp>
      <p:pic>
        <p:nvPicPr>
          <p:cNvPr id="4" name="Content Placeholder 3" descr="A screenshot of a graph&#10;&#10;AI-generated content may be incorrect.">
            <a:extLst>
              <a:ext uri="{FF2B5EF4-FFF2-40B4-BE49-F238E27FC236}">
                <a16:creationId xmlns:a16="http://schemas.microsoft.com/office/drawing/2014/main" id="{2A063623-F721-80AF-F866-1F15E5AC26FD}"/>
              </a:ext>
            </a:extLst>
          </p:cNvPr>
          <p:cNvPicPr>
            <a:picLocks noGrp="1" noChangeAspect="1"/>
          </p:cNvPicPr>
          <p:nvPr>
            <p:ph idx="1"/>
          </p:nvPr>
        </p:nvPicPr>
        <p:blipFill>
          <a:blip r:embed="rId2"/>
          <a:stretch>
            <a:fillRect/>
          </a:stretch>
        </p:blipFill>
        <p:spPr>
          <a:xfrm>
            <a:off x="833437" y="1399802"/>
            <a:ext cx="10502714" cy="5449513"/>
          </a:xfrm>
          <a:prstGeom prst="rect">
            <a:avLst/>
          </a:prstGeom>
        </p:spPr>
      </p:pic>
    </p:spTree>
    <p:extLst>
      <p:ext uri="{BB962C8B-B14F-4D97-AF65-F5344CB8AC3E}">
        <p14:creationId xmlns:p14="http://schemas.microsoft.com/office/powerpoint/2010/main" val="3335224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EF54D-4E40-E51A-0647-49EF6805579F}"/>
              </a:ext>
            </a:extLst>
          </p:cNvPr>
          <p:cNvSpPr>
            <a:spLocks noGrp="1"/>
          </p:cNvSpPr>
          <p:nvPr>
            <p:ph type="title"/>
          </p:nvPr>
        </p:nvSpPr>
        <p:spPr>
          <a:xfrm>
            <a:off x="838200" y="185831"/>
            <a:ext cx="10515600" cy="1404004"/>
          </a:xfrm>
        </p:spPr>
        <p:txBody>
          <a:bodyPr>
            <a:normAutofit/>
          </a:bodyPr>
          <a:lstStyle/>
          <a:p>
            <a:pPr algn="ctr"/>
            <a:r>
              <a:rPr lang="en-US" sz="3600" b="1" i="1" dirty="0"/>
              <a:t>Key Insights:-</a:t>
            </a:r>
            <a:endParaRPr lang="en-US"/>
          </a:p>
        </p:txBody>
      </p:sp>
      <p:sp>
        <p:nvSpPr>
          <p:cNvPr id="3" name="Content Placeholder 2">
            <a:extLst>
              <a:ext uri="{FF2B5EF4-FFF2-40B4-BE49-F238E27FC236}">
                <a16:creationId xmlns:a16="http://schemas.microsoft.com/office/drawing/2014/main" id="{0878BC88-991A-7070-47EA-13AA57810A69}"/>
              </a:ext>
            </a:extLst>
          </p:cNvPr>
          <p:cNvSpPr>
            <a:spLocks noGrp="1"/>
          </p:cNvSpPr>
          <p:nvPr>
            <p:ph idx="1"/>
          </p:nvPr>
        </p:nvSpPr>
        <p:spPr>
          <a:xfrm>
            <a:off x="838200" y="1422214"/>
            <a:ext cx="10515600" cy="5079719"/>
          </a:xfrm>
        </p:spPr>
        <p:txBody>
          <a:bodyPr vert="horz" lIns="91440" tIns="45720" rIns="91440" bIns="45720" rtlCol="0" anchor="t">
            <a:normAutofit/>
          </a:bodyPr>
          <a:lstStyle/>
          <a:p>
            <a:pPr marL="0" indent="0">
              <a:buNone/>
            </a:pPr>
            <a:r>
              <a:rPr lang="en-US" sz="1800" dirty="0">
                <a:ea typeface="+mn-lt"/>
                <a:cs typeface="+mn-lt"/>
              </a:rPr>
              <a:t> </a:t>
            </a:r>
            <a:r>
              <a:rPr lang="en-US" sz="1800" b="1" dirty="0">
                <a:ea typeface="+mn-lt"/>
                <a:cs typeface="+mn-lt"/>
              </a:rPr>
              <a:t>Speed Band &amp; Severity:-</a:t>
            </a:r>
            <a:endParaRPr lang="en-US" sz="1800" b="1" dirty="0"/>
          </a:p>
          <a:p>
            <a:r>
              <a:rPr lang="en-US" sz="1800" b="1" dirty="0">
                <a:ea typeface="+mn-lt"/>
                <a:cs typeface="+mn-lt"/>
              </a:rPr>
              <a:t>≤30 mph roads</a:t>
            </a:r>
            <a:r>
              <a:rPr lang="en-US" sz="1800" dirty="0">
                <a:ea typeface="+mn-lt"/>
                <a:cs typeface="+mn-lt"/>
              </a:rPr>
              <a:t> record the highest number of accidents, followed by</a:t>
            </a:r>
            <a:r>
              <a:rPr lang="en-US" sz="1800" b="1" dirty="0">
                <a:ea typeface="+mn-lt"/>
                <a:cs typeface="+mn-lt"/>
              </a:rPr>
              <a:t> 51–70 mph </a:t>
            </a:r>
            <a:r>
              <a:rPr lang="en-US" sz="1800" dirty="0">
                <a:ea typeface="+mn-lt"/>
                <a:cs typeface="+mn-lt"/>
              </a:rPr>
              <a:t>and </a:t>
            </a:r>
            <a:r>
              <a:rPr lang="en-US" sz="1800" b="1" dirty="0">
                <a:ea typeface="+mn-lt"/>
                <a:cs typeface="+mn-lt"/>
              </a:rPr>
              <a:t>31–50 mph</a:t>
            </a:r>
            <a:r>
              <a:rPr lang="en-US" sz="1800" dirty="0">
                <a:ea typeface="+mn-lt"/>
                <a:cs typeface="+mn-lt"/>
              </a:rPr>
              <a:t>.</a:t>
            </a:r>
            <a:endParaRPr lang="en-US" dirty="0"/>
          </a:p>
          <a:p>
            <a:r>
              <a:rPr lang="en-US" sz="1800" dirty="0">
                <a:ea typeface="+mn-lt"/>
                <a:cs typeface="+mn-lt"/>
              </a:rPr>
              <a:t>Fatal/serious risk rate peaks on high-speed roads (51–70 mph), while it is lowest on ≤30 mph roads.</a:t>
            </a:r>
            <a:endParaRPr lang="en-US" dirty="0"/>
          </a:p>
          <a:p>
            <a:endParaRPr lang="en-US" sz="1800" dirty="0">
              <a:ea typeface="+mn-lt"/>
              <a:cs typeface="+mn-lt"/>
            </a:endParaRPr>
          </a:p>
          <a:p>
            <a:pPr marL="0" indent="0">
              <a:buNone/>
            </a:pPr>
            <a:r>
              <a:rPr lang="en-US" sz="1800" b="1" dirty="0">
                <a:ea typeface="+mn-lt"/>
                <a:cs typeface="+mn-lt"/>
              </a:rPr>
              <a:t>Road Surface &amp; Lighting:-</a:t>
            </a:r>
            <a:endParaRPr lang="en-US" b="1" dirty="0"/>
          </a:p>
          <a:p>
            <a:r>
              <a:rPr lang="en-US" sz="1800" b="1" dirty="0">
                <a:ea typeface="+mn-lt"/>
                <a:cs typeface="+mn-lt"/>
              </a:rPr>
              <a:t>Normal road surfaces</a:t>
            </a:r>
            <a:r>
              <a:rPr lang="en-US" sz="1800" dirty="0">
                <a:ea typeface="+mn-lt"/>
                <a:cs typeface="+mn-lt"/>
              </a:rPr>
              <a:t> account for most accidents.</a:t>
            </a:r>
            <a:endParaRPr lang="en-US" dirty="0"/>
          </a:p>
          <a:p>
            <a:r>
              <a:rPr lang="en-US" sz="1800" b="1" dirty="0">
                <a:ea typeface="+mn-lt"/>
                <a:cs typeface="+mn-lt"/>
              </a:rPr>
              <a:t>Daylight conditions</a:t>
            </a:r>
            <a:r>
              <a:rPr lang="en-US" sz="1800" dirty="0">
                <a:ea typeface="+mn-lt"/>
                <a:cs typeface="+mn-lt"/>
              </a:rPr>
              <a:t> consistently record more accidents than darkness.</a:t>
            </a:r>
            <a:endParaRPr lang="en-US" dirty="0"/>
          </a:p>
          <a:p>
            <a:r>
              <a:rPr lang="en-US" sz="1800" dirty="0">
                <a:ea typeface="+mn-lt"/>
                <a:cs typeface="+mn-lt"/>
              </a:rPr>
              <a:t>Under </a:t>
            </a:r>
            <a:r>
              <a:rPr lang="en-US" sz="1800" b="1" dirty="0">
                <a:ea typeface="+mn-lt"/>
                <a:cs typeface="+mn-lt"/>
              </a:rPr>
              <a:t>adverse surfaces</a:t>
            </a:r>
            <a:r>
              <a:rPr lang="en-US" sz="1800" dirty="0">
                <a:ea typeface="+mn-lt"/>
                <a:cs typeface="+mn-lt"/>
              </a:rPr>
              <a:t>, accident counts are similar in daylight and darkness.</a:t>
            </a:r>
            <a:endParaRPr lang="en-US" dirty="0"/>
          </a:p>
          <a:p>
            <a:r>
              <a:rPr lang="en-US" sz="1800" dirty="0">
                <a:ea typeface="+mn-lt"/>
                <a:cs typeface="+mn-lt"/>
              </a:rPr>
              <a:t>Fatal/serious risk rate remains roughly </a:t>
            </a:r>
            <a:r>
              <a:rPr lang="en-US" sz="1800" b="1" dirty="0">
                <a:ea typeface="+mn-lt"/>
                <a:cs typeface="+mn-lt"/>
              </a:rPr>
              <a:t>constant (~0.25) across normal and adverse road surfaces</a:t>
            </a:r>
            <a:r>
              <a:rPr lang="en-US" sz="1800" dirty="0">
                <a:ea typeface="+mn-lt"/>
                <a:cs typeface="+mn-lt"/>
              </a:rPr>
              <a:t>.</a:t>
            </a:r>
            <a:endParaRPr lang="en-US" dirty="0"/>
          </a:p>
        </p:txBody>
      </p:sp>
    </p:spTree>
    <p:extLst>
      <p:ext uri="{BB962C8B-B14F-4D97-AF65-F5344CB8AC3E}">
        <p14:creationId xmlns:p14="http://schemas.microsoft.com/office/powerpoint/2010/main" val="2431210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41D86-D9EB-F355-D673-FAB80BB49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2B066-6F4F-C415-6F78-E03DAD1CE1DE}"/>
              </a:ext>
            </a:extLst>
          </p:cNvPr>
          <p:cNvSpPr>
            <a:spLocks noGrp="1"/>
          </p:cNvSpPr>
          <p:nvPr>
            <p:ph type="title"/>
          </p:nvPr>
        </p:nvSpPr>
        <p:spPr>
          <a:xfrm>
            <a:off x="838200" y="185831"/>
            <a:ext cx="10515600" cy="1404004"/>
          </a:xfrm>
        </p:spPr>
        <p:txBody>
          <a:bodyPr>
            <a:normAutofit/>
          </a:bodyPr>
          <a:lstStyle/>
          <a:p>
            <a:pPr algn="ctr"/>
            <a:r>
              <a:rPr lang="en-US" sz="3600" b="1" i="1" dirty="0"/>
              <a:t>Key Insights:-</a:t>
            </a:r>
            <a:endParaRPr lang="en-US"/>
          </a:p>
        </p:txBody>
      </p:sp>
      <p:sp>
        <p:nvSpPr>
          <p:cNvPr id="3" name="Content Placeholder 2">
            <a:extLst>
              <a:ext uri="{FF2B5EF4-FFF2-40B4-BE49-F238E27FC236}">
                <a16:creationId xmlns:a16="http://schemas.microsoft.com/office/drawing/2014/main" id="{D6FC63E5-2770-EF62-118A-44389201ADAF}"/>
              </a:ext>
            </a:extLst>
          </p:cNvPr>
          <p:cNvSpPr>
            <a:spLocks noGrp="1"/>
          </p:cNvSpPr>
          <p:nvPr>
            <p:ph idx="1"/>
          </p:nvPr>
        </p:nvSpPr>
        <p:spPr>
          <a:xfrm>
            <a:off x="838200" y="1422214"/>
            <a:ext cx="10515600" cy="5079719"/>
          </a:xfrm>
        </p:spPr>
        <p:txBody>
          <a:bodyPr vert="horz" lIns="91440" tIns="45720" rIns="91440" bIns="45720" rtlCol="0" anchor="t">
            <a:normAutofit/>
          </a:bodyPr>
          <a:lstStyle/>
          <a:p>
            <a:pPr marL="0" indent="0">
              <a:buNone/>
            </a:pPr>
            <a:r>
              <a:rPr lang="en-US" sz="1800" b="1" dirty="0">
                <a:ea typeface="+mn-lt"/>
                <a:cs typeface="+mn-lt"/>
              </a:rPr>
              <a:t>Weather &amp; Light Conditions:-</a:t>
            </a:r>
            <a:endParaRPr lang="en-US" b="1" dirty="0"/>
          </a:p>
          <a:p>
            <a:r>
              <a:rPr lang="en-US" sz="1800" b="1" dirty="0">
                <a:ea typeface="+mn-lt"/>
                <a:cs typeface="+mn-lt"/>
              </a:rPr>
              <a:t>Clear weather</a:t>
            </a:r>
            <a:r>
              <a:rPr lang="en-US" sz="1800" dirty="0">
                <a:ea typeface="+mn-lt"/>
                <a:cs typeface="+mn-lt"/>
              </a:rPr>
              <a:t> contributes more accidents than adverse weather.</a:t>
            </a:r>
            <a:endParaRPr lang="en-US" dirty="0"/>
          </a:p>
          <a:p>
            <a:r>
              <a:rPr lang="en-US" sz="1800" b="1" dirty="0">
                <a:ea typeface="+mn-lt"/>
                <a:cs typeface="+mn-lt"/>
              </a:rPr>
              <a:t>Clear + daylight</a:t>
            </a:r>
            <a:r>
              <a:rPr lang="en-US" sz="1800" dirty="0">
                <a:ea typeface="+mn-lt"/>
                <a:cs typeface="+mn-lt"/>
              </a:rPr>
              <a:t> has the highest accident count, followed by </a:t>
            </a:r>
            <a:r>
              <a:rPr lang="en-US" sz="1800" b="1" dirty="0">
                <a:ea typeface="+mn-lt"/>
                <a:cs typeface="+mn-lt"/>
              </a:rPr>
              <a:t>clear + darkness</a:t>
            </a:r>
            <a:r>
              <a:rPr lang="en-US" sz="1800" dirty="0">
                <a:ea typeface="+mn-lt"/>
                <a:cs typeface="+mn-lt"/>
              </a:rPr>
              <a:t>.</a:t>
            </a:r>
            <a:endParaRPr lang="en-US" dirty="0"/>
          </a:p>
          <a:p>
            <a:r>
              <a:rPr lang="en-US" sz="1800" b="1" dirty="0">
                <a:ea typeface="+mn-lt"/>
                <a:cs typeface="+mn-lt"/>
              </a:rPr>
              <a:t>Adverse + daylight and adverse + darkness </a:t>
            </a:r>
            <a:r>
              <a:rPr lang="en-US" sz="1800" dirty="0">
                <a:ea typeface="+mn-lt"/>
                <a:cs typeface="+mn-lt"/>
              </a:rPr>
              <a:t>show similar accident levels.</a:t>
            </a:r>
            <a:endParaRPr lang="en-US" dirty="0"/>
          </a:p>
          <a:p>
            <a:endParaRPr lang="en-US" sz="1800" dirty="0">
              <a:ea typeface="+mn-lt"/>
              <a:cs typeface="+mn-lt"/>
            </a:endParaRPr>
          </a:p>
          <a:p>
            <a:pPr marL="0" indent="0">
              <a:buNone/>
            </a:pPr>
            <a:r>
              <a:rPr lang="en-US" sz="1800" b="1" dirty="0">
                <a:ea typeface="+mn-lt"/>
                <a:cs typeface="+mn-lt"/>
              </a:rPr>
              <a:t>Average Vehicles &amp; Casualties by Road Type:-</a:t>
            </a:r>
            <a:endParaRPr lang="en-US" b="1" dirty="0"/>
          </a:p>
          <a:p>
            <a:r>
              <a:rPr lang="en-US" sz="1800" b="1" dirty="0">
                <a:ea typeface="+mn-lt"/>
                <a:cs typeface="+mn-lt"/>
              </a:rPr>
              <a:t>Dual carriageways</a:t>
            </a:r>
            <a:r>
              <a:rPr lang="en-US" sz="1800" dirty="0">
                <a:ea typeface="+mn-lt"/>
                <a:cs typeface="+mn-lt"/>
              </a:rPr>
              <a:t> have the highest average vehicles involved per accident </a:t>
            </a:r>
            <a:r>
              <a:rPr lang="en-US" sz="1800" b="1" dirty="0">
                <a:ea typeface="+mn-lt"/>
                <a:cs typeface="+mn-lt"/>
              </a:rPr>
              <a:t>(~1.37)</a:t>
            </a:r>
            <a:r>
              <a:rPr lang="en-US" sz="1800" dirty="0">
                <a:ea typeface="+mn-lt"/>
                <a:cs typeface="+mn-lt"/>
              </a:rPr>
              <a:t>.</a:t>
            </a:r>
            <a:endParaRPr lang="en-US" dirty="0"/>
          </a:p>
          <a:p>
            <a:r>
              <a:rPr lang="en-US" sz="1800" dirty="0">
                <a:ea typeface="+mn-lt"/>
                <a:cs typeface="+mn-lt"/>
              </a:rPr>
              <a:t>They also record the highest average casualties </a:t>
            </a:r>
            <a:r>
              <a:rPr lang="en-US" sz="1800" b="1" dirty="0">
                <a:ea typeface="+mn-lt"/>
                <a:cs typeface="+mn-lt"/>
              </a:rPr>
              <a:t>(~1.39)</a:t>
            </a:r>
            <a:r>
              <a:rPr lang="en-US" sz="1800" dirty="0">
                <a:ea typeface="+mn-lt"/>
                <a:cs typeface="+mn-lt"/>
              </a:rPr>
              <a:t> among road types.</a:t>
            </a:r>
            <a:endParaRPr lang="en-US" dirty="0"/>
          </a:p>
        </p:txBody>
      </p:sp>
    </p:spTree>
    <p:extLst>
      <p:ext uri="{BB962C8B-B14F-4D97-AF65-F5344CB8AC3E}">
        <p14:creationId xmlns:p14="http://schemas.microsoft.com/office/powerpoint/2010/main" val="4079475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7A31E-02BE-45F6-AE2F-566867729867}"/>
              </a:ext>
            </a:extLst>
          </p:cNvPr>
          <p:cNvSpPr>
            <a:spLocks noGrp="1"/>
          </p:cNvSpPr>
          <p:nvPr>
            <p:ph type="title"/>
          </p:nvPr>
        </p:nvSpPr>
        <p:spPr>
          <a:xfrm>
            <a:off x="838200" y="6537"/>
            <a:ext cx="10515600" cy="1404004"/>
          </a:xfrm>
        </p:spPr>
        <p:txBody>
          <a:bodyPr>
            <a:normAutofit/>
          </a:bodyPr>
          <a:lstStyle/>
          <a:p>
            <a:pPr algn="ctr"/>
            <a:r>
              <a:rPr lang="en-US" sz="3600" b="1" i="1" dirty="0"/>
              <a:t>Accident Distribution by Quarter and Police Attendance</a:t>
            </a:r>
            <a:endParaRPr lang="en-US"/>
          </a:p>
        </p:txBody>
      </p:sp>
      <p:pic>
        <p:nvPicPr>
          <p:cNvPr id="4" name="Content Placeholder 3" descr="A close-up of a pie chart&#10;&#10;AI-generated content may be incorrect.">
            <a:extLst>
              <a:ext uri="{FF2B5EF4-FFF2-40B4-BE49-F238E27FC236}">
                <a16:creationId xmlns:a16="http://schemas.microsoft.com/office/drawing/2014/main" id="{367550F1-55AF-E98E-B78B-4516E26E4ECC}"/>
              </a:ext>
            </a:extLst>
          </p:cNvPr>
          <p:cNvPicPr>
            <a:picLocks noGrp="1" noChangeAspect="1"/>
          </p:cNvPicPr>
          <p:nvPr>
            <p:ph idx="1"/>
          </p:nvPr>
        </p:nvPicPr>
        <p:blipFill>
          <a:blip r:embed="rId2"/>
          <a:stretch>
            <a:fillRect/>
          </a:stretch>
        </p:blipFill>
        <p:spPr>
          <a:xfrm>
            <a:off x="834419" y="1411008"/>
            <a:ext cx="10500749" cy="5449513"/>
          </a:xfrm>
          <a:prstGeom prst="rect">
            <a:avLst/>
          </a:prstGeom>
        </p:spPr>
      </p:pic>
    </p:spTree>
    <p:extLst>
      <p:ext uri="{BB962C8B-B14F-4D97-AF65-F5344CB8AC3E}">
        <p14:creationId xmlns:p14="http://schemas.microsoft.com/office/powerpoint/2010/main" val="374576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12AD5-848F-3202-ABAA-AF2214CF7C87}"/>
              </a:ext>
            </a:extLst>
          </p:cNvPr>
          <p:cNvSpPr>
            <a:spLocks noGrp="1"/>
          </p:cNvSpPr>
          <p:nvPr>
            <p:ph type="title"/>
          </p:nvPr>
        </p:nvSpPr>
        <p:spPr/>
        <p:txBody>
          <a:bodyPr>
            <a:normAutofit/>
          </a:bodyPr>
          <a:lstStyle/>
          <a:p>
            <a:pPr algn="ctr"/>
            <a:r>
              <a:rPr lang="en-US" sz="3600" b="1" i="1" dirty="0"/>
              <a:t>Key Insights:-</a:t>
            </a:r>
            <a:endParaRPr lang="en-US"/>
          </a:p>
        </p:txBody>
      </p:sp>
      <p:sp>
        <p:nvSpPr>
          <p:cNvPr id="3" name="Content Placeholder 2">
            <a:extLst>
              <a:ext uri="{FF2B5EF4-FFF2-40B4-BE49-F238E27FC236}">
                <a16:creationId xmlns:a16="http://schemas.microsoft.com/office/drawing/2014/main" id="{7600DA37-7486-4911-132D-314462552204}"/>
              </a:ext>
            </a:extLst>
          </p:cNvPr>
          <p:cNvSpPr>
            <a:spLocks noGrp="1"/>
          </p:cNvSpPr>
          <p:nvPr>
            <p:ph idx="1"/>
          </p:nvPr>
        </p:nvSpPr>
        <p:spPr/>
        <p:txBody>
          <a:bodyPr vert="horz" lIns="91440" tIns="45720" rIns="91440" bIns="45720" rtlCol="0" anchor="t">
            <a:normAutofit/>
          </a:bodyPr>
          <a:lstStyle/>
          <a:p>
            <a:pPr marL="0" indent="0">
              <a:buNone/>
            </a:pPr>
            <a:r>
              <a:rPr lang="en-US" sz="1800" b="1" dirty="0"/>
              <a:t>Police Attendance:-</a:t>
            </a:r>
            <a:endParaRPr lang="en-US" b="1" dirty="0"/>
          </a:p>
          <a:p>
            <a:r>
              <a:rPr lang="en-US" sz="1800" dirty="0"/>
              <a:t>Police attended (~69%) of accident scenes, while (~31%) had no police presence.</a:t>
            </a:r>
          </a:p>
          <a:p>
            <a:endParaRPr lang="en-US" sz="1800" dirty="0"/>
          </a:p>
          <a:p>
            <a:pPr marL="0" indent="0">
              <a:buNone/>
            </a:pPr>
            <a:r>
              <a:rPr lang="en-US" sz="1800" b="1" dirty="0"/>
              <a:t>Quarter Accident Pattern:-</a:t>
            </a:r>
          </a:p>
          <a:p>
            <a:r>
              <a:rPr lang="en-US" sz="1800" dirty="0"/>
              <a:t>Q1( First Quarter)  records lowest percentage of total accidents(~23.43%) , while Q2, Q3 and Q4 show a nearly even distribution, each contributing around (~25%) of total accidents.</a:t>
            </a:r>
          </a:p>
        </p:txBody>
      </p:sp>
    </p:spTree>
    <p:extLst>
      <p:ext uri="{BB962C8B-B14F-4D97-AF65-F5344CB8AC3E}">
        <p14:creationId xmlns:p14="http://schemas.microsoft.com/office/powerpoint/2010/main" val="1374272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66A1E-2610-C2CF-BE09-A44A51B1119D}"/>
              </a:ext>
            </a:extLst>
          </p:cNvPr>
          <p:cNvSpPr>
            <a:spLocks noGrp="1"/>
          </p:cNvSpPr>
          <p:nvPr>
            <p:ph type="title"/>
          </p:nvPr>
        </p:nvSpPr>
        <p:spPr/>
        <p:txBody>
          <a:bodyPr>
            <a:normAutofit/>
          </a:bodyPr>
          <a:lstStyle/>
          <a:p>
            <a:pPr algn="ctr"/>
            <a:r>
              <a:rPr lang="en-US" sz="3600" b="1" i="1" dirty="0"/>
              <a:t>Overall Conclusions&amp; Key Takeaways:-</a:t>
            </a:r>
            <a:endParaRPr lang="en-US"/>
          </a:p>
        </p:txBody>
      </p:sp>
      <p:sp>
        <p:nvSpPr>
          <p:cNvPr id="3" name="Content Placeholder 2">
            <a:extLst>
              <a:ext uri="{FF2B5EF4-FFF2-40B4-BE49-F238E27FC236}">
                <a16:creationId xmlns:a16="http://schemas.microsoft.com/office/drawing/2014/main" id="{42FFCE9B-73C2-E744-7482-3EB743EB98E3}"/>
              </a:ext>
            </a:extLst>
          </p:cNvPr>
          <p:cNvSpPr>
            <a:spLocks noGrp="1"/>
          </p:cNvSpPr>
          <p:nvPr>
            <p:ph idx="1"/>
          </p:nvPr>
        </p:nvSpPr>
        <p:spPr>
          <a:xfrm>
            <a:off x="838200" y="1825625"/>
            <a:ext cx="10515600" cy="5023690"/>
          </a:xfrm>
        </p:spPr>
        <p:txBody>
          <a:bodyPr vert="horz" lIns="91440" tIns="45720" rIns="91440" bIns="45720" rtlCol="0" anchor="t">
            <a:normAutofit/>
          </a:bodyPr>
          <a:lstStyle/>
          <a:p>
            <a:r>
              <a:rPr lang="en-US" sz="1800" dirty="0">
                <a:ea typeface="+mn-lt"/>
                <a:cs typeface="+mn-lt"/>
              </a:rPr>
              <a:t>Road accidents show clear patterns across </a:t>
            </a:r>
            <a:r>
              <a:rPr lang="en-US" sz="1800" b="1" dirty="0">
                <a:ea typeface="+mn-lt"/>
                <a:cs typeface="+mn-lt"/>
              </a:rPr>
              <a:t>time, location, road type, and environmental conditions</a:t>
            </a:r>
            <a:r>
              <a:rPr lang="en-US" sz="1800" dirty="0">
                <a:ea typeface="+mn-lt"/>
                <a:cs typeface="+mn-lt"/>
              </a:rPr>
              <a:t> rather than being randomly distributed.</a:t>
            </a:r>
            <a:endParaRPr lang="en-US" sz="1800" dirty="0"/>
          </a:p>
          <a:p>
            <a:r>
              <a:rPr lang="en-US" sz="1800" b="1" dirty="0">
                <a:ea typeface="+mn-lt"/>
                <a:cs typeface="+mn-lt"/>
              </a:rPr>
              <a:t>Afternoon hours and peak traffic periods </a:t>
            </a:r>
            <a:r>
              <a:rPr lang="en-US" sz="1800" dirty="0">
                <a:ea typeface="+mn-lt"/>
                <a:cs typeface="+mn-lt"/>
              </a:rPr>
              <a:t>consistently record the highest number of accidents, while night-time accidents are fewer but relatively riskier.</a:t>
            </a:r>
            <a:endParaRPr lang="en-US" dirty="0"/>
          </a:p>
          <a:p>
            <a:r>
              <a:rPr lang="en-US" sz="1800" b="1" dirty="0">
                <a:ea typeface="+mn-lt"/>
                <a:cs typeface="+mn-lt"/>
              </a:rPr>
              <a:t>Urban areas, not-junction locations, single carriageways, no pedestrian crossing and normal road surfaces</a:t>
            </a:r>
            <a:r>
              <a:rPr lang="en-US" sz="1800" dirty="0">
                <a:ea typeface="+mn-lt"/>
                <a:cs typeface="+mn-lt"/>
              </a:rPr>
              <a:t> account for the majority of accidents.</a:t>
            </a:r>
            <a:endParaRPr lang="en-US" dirty="0"/>
          </a:p>
          <a:p>
            <a:r>
              <a:rPr lang="en-US" sz="1800" b="1" dirty="0">
                <a:ea typeface="+mn-lt"/>
                <a:cs typeface="+mn-lt"/>
              </a:rPr>
              <a:t>Higher speed bands (51–70 mph)</a:t>
            </a:r>
            <a:r>
              <a:rPr lang="en-US" sz="1800" dirty="0">
                <a:ea typeface="+mn-lt"/>
                <a:cs typeface="+mn-lt"/>
              </a:rPr>
              <a:t> are associated with higher fatal or serious risk rates, despite fewer total accidents.</a:t>
            </a:r>
            <a:endParaRPr lang="en-US" dirty="0"/>
          </a:p>
          <a:p>
            <a:r>
              <a:rPr lang="en-US" sz="1800" b="1" dirty="0">
                <a:ea typeface="+mn-lt"/>
                <a:cs typeface="+mn-lt"/>
              </a:rPr>
              <a:t>Seasonal and quarterly analysis</a:t>
            </a:r>
            <a:r>
              <a:rPr lang="en-US" sz="1800" dirty="0">
                <a:ea typeface="+mn-lt"/>
                <a:cs typeface="+mn-lt"/>
              </a:rPr>
              <a:t> indicates that accidents are fairly evenly distributed across the year, with Q1 showing relatively lower accident share.</a:t>
            </a:r>
          </a:p>
          <a:p>
            <a:endParaRPr lang="en-US" sz="1800" dirty="0">
              <a:ea typeface="+mn-lt"/>
              <a:cs typeface="+mn-lt"/>
            </a:endParaRPr>
          </a:p>
          <a:p>
            <a:pPr marL="0" indent="0">
              <a:buNone/>
            </a:pPr>
            <a:r>
              <a:rPr lang="en-US" sz="1800" b="1">
                <a:ea typeface="+mn-lt"/>
                <a:cs typeface="+mn-lt"/>
              </a:rPr>
              <a:t>These insights can support targeted road safety measures, such as speed management, junction design improvements, and time-specific traffic enforcement.</a:t>
            </a:r>
            <a:endParaRPr lang="en-US" sz="1800" b="1"/>
          </a:p>
        </p:txBody>
      </p:sp>
    </p:spTree>
    <p:extLst>
      <p:ext uri="{BB962C8B-B14F-4D97-AF65-F5344CB8AC3E}">
        <p14:creationId xmlns:p14="http://schemas.microsoft.com/office/powerpoint/2010/main" val="3928617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UK Road Accident Analysis &amp; Risk Assessment</vt:lpstr>
      <vt:lpstr>Data Source and Analytical Approach</vt:lpstr>
      <vt:lpstr>Data Source and Analytical Approach</vt:lpstr>
      <vt:lpstr>Key Accident Summary Metrics</vt:lpstr>
      <vt:lpstr>Key Insights:-</vt:lpstr>
      <vt:lpstr>1. Road Accident Trends by Date, Month and Quarter(Table Visual) 2. Daily Road Accident Metrics Across Time and Police Force(Metrix Visual)</vt:lpstr>
      <vt:lpstr>Key Insights:-</vt:lpstr>
      <vt:lpstr>Scatter plot(Correlation Analysis) &amp; Map visual</vt:lpstr>
      <vt:lpstr>Key Insights:-</vt:lpstr>
      <vt:lpstr>Top 5 Accident-Prone Locations Across Authorities Subtitle:- Dynamic ranking of accident-prone locations based on selected time, junction, and area filters</vt:lpstr>
      <vt:lpstr>Key Insights:-</vt:lpstr>
      <vt:lpstr>Accident and Risk Rate Trends Over Time Subtitle:- Time-of-day and rush-hour accident patterns under selected season and weekday filters</vt:lpstr>
      <vt:lpstr>Key Insights:-</vt:lpstr>
      <vt:lpstr>Accident and Risk Rate Patterns Across Time</vt:lpstr>
      <vt:lpstr>Key Insights:-</vt:lpstr>
      <vt:lpstr>Road Infrastructure and Condition Impact on Accidents Subtitle:-Patterns analyzed across pedestrian crossing, time of day and season.</vt:lpstr>
      <vt:lpstr>Key Insights:-</vt:lpstr>
      <vt:lpstr>Key Insights:-</vt:lpstr>
      <vt:lpstr>Accident Distribution by Road Classification Subtitle:-Patterns analyzed across time of day and season.</vt:lpstr>
      <vt:lpstr>Key Insights:-</vt:lpstr>
      <vt:lpstr>Accident severity and Risk Patterns by Road Surface Conditions, Speed and Environmental Conditions</vt:lpstr>
      <vt:lpstr>Key Insights:-</vt:lpstr>
      <vt:lpstr>Key Insights:-</vt:lpstr>
      <vt:lpstr>Accident Distribution by Quarter and Police Attendance</vt:lpstr>
      <vt:lpstr>Key Insights:-</vt:lpstr>
      <vt:lpstr>Overall Conclusions&amp; 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1449</cp:revision>
  <dcterms:created xsi:type="dcterms:W3CDTF">2026-01-30T16:50:05Z</dcterms:created>
  <dcterms:modified xsi:type="dcterms:W3CDTF">2026-01-31T11:27:12Z</dcterms:modified>
</cp:coreProperties>
</file>